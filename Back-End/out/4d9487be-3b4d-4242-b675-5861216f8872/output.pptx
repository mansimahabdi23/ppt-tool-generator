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ver_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43000" y="2400300"/>
            <a:ext cx="990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0">
                <a:solidFill>
                  <a:srgbClr val="FFFFFF"/>
                </a:solidFill>
                <a:latin typeface="Playfair Display"/>
              </a:rPr>
              <a:t>Skills Visibility._x000B_Business Agility.</a:t>
            </a:r>
          </a:p>
        </p:txBody>
      </p:sp>
      <p:pic>
        <p:nvPicPr>
          <p:cNvPr id="4" name="Picture 3" descr="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057900"/>
            <a:ext cx="1175657" cy="3429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="1">
          <a:gsLst>
            <a:gs pos="0">
              <a:srgbClr val="481AEC"/>
            </a:gs>
            <a:gs pos="100000">
              <a:srgbClr val="6366F1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43000" y="2286000"/>
            <a:ext cx="990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0">
                <a:solidFill>
                  <a:srgbClr val="FFFFFF"/>
                </a:solidFill>
                <a:latin typeface="Playfair Display"/>
              </a:rPr>
              <a:t>Business Outcomes</a:t>
            </a:r>
          </a:p>
        </p:txBody>
      </p:sp>
      <p:pic>
        <p:nvPicPr>
          <p:cNvPr id="3" name="Picture 2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057900"/>
            <a:ext cx="1175657" cy="3429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0">
                <a:solidFill>
                  <a:srgbClr val="111827"/>
                </a:solidFill>
                <a:latin typeface="Playfair Display"/>
              </a:rPr>
              <a:t>iMocha AI Governance – Built for Enterprise Trust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57300"/>
            <a:ext cx="541020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11827"/>
                </a:solidFill>
                <a:latin typeface="Poppins"/>
              </a:rPr>
              <a:t>Demand</a:t>
            </a:r>
          </a:p>
          <a:p>
            <a:r>
              <a:rPr sz="1100">
                <a:solidFill>
                  <a:srgbClr val="111827"/>
                </a:solidFill>
                <a:latin typeface="Poppins"/>
              </a:rPr>
              <a:t>Supply</a:t>
            </a:r>
          </a:p>
          <a:p>
            <a:r>
              <a:rPr sz="1100">
                <a:solidFill>
                  <a:srgbClr val="111827"/>
                </a:solidFill>
                <a:latin typeface="Poppins"/>
              </a:rPr>
              <a:t>Fairness</a:t>
            </a:r>
          </a:p>
          <a:p>
            <a:r>
              <a:rPr sz="1100">
                <a:solidFill>
                  <a:srgbClr val="111827"/>
                </a:solidFill>
                <a:latin typeface="Poppins"/>
              </a:rPr>
              <a:t>Transparency</a:t>
            </a:r>
          </a:p>
          <a:p>
            <a:r>
              <a:rPr sz="1100">
                <a:solidFill>
                  <a:srgbClr val="111827"/>
                </a:solidFill>
                <a:latin typeface="Poppins"/>
              </a:rPr>
              <a:t>Inclusiveness</a:t>
            </a:r>
          </a:p>
          <a:p>
            <a:r>
              <a:rPr sz="1100">
                <a:solidFill>
                  <a:srgbClr val="111827"/>
                </a:solidFill>
                <a:latin typeface="Poppins"/>
              </a:rPr>
              <a:t>Privacy &amp; Security</a:t>
            </a:r>
          </a:p>
          <a:p>
            <a:r>
              <a:rPr sz="1100">
                <a:solidFill>
                  <a:srgbClr val="111827"/>
                </a:solidFill>
                <a:latin typeface="Poppins"/>
              </a:rPr>
              <a:t>Reliability &amp; Safety</a:t>
            </a:r>
          </a:p>
          <a:p>
            <a:r>
              <a:rPr sz="1100">
                <a:solidFill>
                  <a:srgbClr val="111827"/>
                </a:solidFill>
                <a:latin typeface="Poppins"/>
              </a:rPr>
              <a:t>iMocha AI Vision -&gt; AI that understands skills, powers careers, and prepares organizations for the future of work</a:t>
            </a:r>
          </a:p>
          <a:p>
            <a:r>
              <a:rPr sz="1100">
                <a:solidFill>
                  <a:srgbClr val="111827"/>
                </a:solidFill>
                <a:latin typeface="Poppins"/>
              </a:rPr>
              <a:t>Employees review and confirm the inferred skills.</a:t>
            </a:r>
          </a:p>
          <a:p>
            <a:r>
              <a:rPr sz="1100">
                <a:solidFill>
                  <a:srgbClr val="111827"/>
                </a:solidFill>
                <a:latin typeface="Poppins"/>
              </a:rPr>
              <a:t>Built-in governance workflows ensure accuracy and ownership</a:t>
            </a:r>
          </a:p>
          <a:p>
            <a:r>
              <a:rPr sz="1100">
                <a:solidFill>
                  <a:srgbClr val="111827"/>
                </a:solidFill>
                <a:latin typeface="Poppins"/>
              </a:rPr>
              <a:t>Audit trails eliminate assumptions and unverified data</a:t>
            </a:r>
          </a:p>
          <a:p>
            <a:r>
              <a:rPr sz="1100">
                <a:solidFill>
                  <a:srgbClr val="111827"/>
                </a:solidFill>
                <a:latin typeface="Poppins"/>
              </a:rPr>
              <a:t>HR and business approve role and competency requirements</a:t>
            </a:r>
          </a:p>
          <a:p>
            <a:r>
              <a:rPr sz="1100">
                <a:solidFill>
                  <a:srgbClr val="111827"/>
                </a:solidFill>
                <a:latin typeface="Poppins"/>
              </a:rPr>
              <a:t>Standardized taxonomy prevents drift and duplication</a:t>
            </a:r>
          </a:p>
          <a:p>
            <a:r>
              <a:rPr sz="1100">
                <a:solidFill>
                  <a:srgbClr val="111827"/>
                </a:solidFill>
                <a:latin typeface="Poppins"/>
              </a:rPr>
              <a:t>Creates a consistent, enterprise-grade demand signal</a:t>
            </a:r>
          </a:p>
          <a:p>
            <a:r>
              <a:rPr sz="1100">
                <a:solidFill>
                  <a:srgbClr val="111827"/>
                </a:solidFill>
                <a:latin typeface="Poppins"/>
              </a:rPr>
              <a:t>GenAI powered, transparent, logic-based matching</a:t>
            </a:r>
          </a:p>
          <a:p>
            <a:r>
              <a:rPr sz="1100">
                <a:solidFill>
                  <a:srgbClr val="111827"/>
                </a:solidFill>
                <a:latin typeface="Poppins"/>
              </a:rPr>
              <a:t>Scoring rationale and confidence levels for every match</a:t>
            </a:r>
          </a:p>
          <a:p>
            <a:r>
              <a:rPr sz="1100">
                <a:solidFill>
                  <a:srgbClr val="111827"/>
                </a:solidFill>
                <a:latin typeface="Poppins"/>
              </a:rPr>
              <a:t>Consistent, bias-free decisions designed for audit and scale</a:t>
            </a:r>
          </a:p>
          <a:p>
            <a:r>
              <a:rPr sz="1100">
                <a:solidFill>
                  <a:srgbClr val="111827"/>
                </a:solidFill>
                <a:latin typeface="Poppins"/>
              </a:rPr>
              <a:t>Skills Matching</a:t>
            </a:r>
          </a:p>
          <a:p>
            <a:r>
              <a:rPr sz="1100">
                <a:solidFill>
                  <a:srgbClr val="111827"/>
                </a:solidFill>
                <a:latin typeface="Poppins"/>
              </a:rPr>
              <a:t>Verified Skills from the Source</a:t>
            </a:r>
          </a:p>
          <a:p>
            <a:r>
              <a:rPr sz="1100">
                <a:solidFill>
                  <a:srgbClr val="111827"/>
                </a:solidFill>
                <a:latin typeface="Poppins"/>
              </a:rPr>
              <a:t>Curated &amp; Controlled by the Business</a:t>
            </a:r>
          </a:p>
          <a:p>
            <a:r>
              <a:rPr sz="1100">
                <a:solidFill>
                  <a:srgbClr val="111827"/>
                </a:solidFill>
                <a:latin typeface="Poppins"/>
              </a:rPr>
              <a:t>Explainable, Deterministic &amp; Fair</a:t>
            </a:r>
          </a:p>
          <a:p>
            <a:r>
              <a:rPr sz="1100">
                <a:solidFill>
                  <a:srgbClr val="111827"/>
                </a:solidFill>
                <a:latin typeface="Poppins"/>
              </a:rPr>
              <a:t>Accountability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6324600" y="1257300"/>
            <a:ext cx="5410200" cy="4800600"/>
          </a:xfrm>
          <a:prstGeom prst="rect">
            <a:avLst/>
          </a:prstGeom>
          <a:noFill/>
          <a:ln w="12700">
            <a:solidFill>
              <a:srgbClr val="481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>
                <a:solidFill>
                  <a:srgbClr val="481AEC"/>
                </a:solidFill>
                <a:latin typeface="Poppins"/>
              </a:rPr>
              <a:t>[ INFOGRAPHIC REGION ]</a:t>
            </a:r>
          </a:p>
        </p:txBody>
      </p:sp>
      <p:pic>
        <p:nvPicPr>
          <p:cNvPr id="5" name="Picture 4" descr="logo_foo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286500"/>
            <a:ext cx="1193800" cy="3429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="1">
          <a:gsLst>
            <a:gs pos="0">
              <a:srgbClr val="481AEC"/>
            </a:gs>
            <a:gs pos="100000">
              <a:srgbClr val="6366F1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43000" y="2286000"/>
            <a:ext cx="990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0">
                <a:solidFill>
                  <a:srgbClr val="FFFFFF"/>
                </a:solidFill>
                <a:latin typeface="Playfair Display"/>
              </a:rPr>
              <a:t>iMocha _x000B_at a Glance</a:t>
            </a:r>
          </a:p>
        </p:txBody>
      </p:sp>
      <p:pic>
        <p:nvPicPr>
          <p:cNvPr id="3" name="Picture 2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057900"/>
            <a:ext cx="1175657" cy="3429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0">
                <a:solidFill>
                  <a:srgbClr val="111827"/>
                </a:solidFill>
                <a:latin typeface="Playfair Display"/>
              </a:rPr>
              <a:t>AI-first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57300"/>
            <a:ext cx="541020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11827"/>
                </a:solidFill>
                <a:latin typeface="Poppins"/>
              </a:rPr>
              <a:t>Al Skills</a:t>
            </a:r>
          </a:p>
          <a:p>
            <a:r>
              <a:rPr sz="1100">
                <a:solidFill>
                  <a:srgbClr val="111827"/>
                </a:solidFill>
                <a:latin typeface="Poppins"/>
              </a:rPr>
              <a:t>Inference Hub</a:t>
            </a:r>
          </a:p>
          <a:p>
            <a:r>
              <a:rPr sz="1100">
                <a:solidFill>
                  <a:srgbClr val="111827"/>
                </a:solidFill>
                <a:latin typeface="Poppins"/>
              </a:rPr>
              <a:t>Conversational</a:t>
            </a:r>
          </a:p>
          <a:p>
            <a:r>
              <a:rPr sz="1100">
                <a:solidFill>
                  <a:srgbClr val="111827"/>
                </a:solidFill>
                <a:latin typeface="Poppins"/>
              </a:rPr>
              <a:t>Al Interview - Tara</a:t>
            </a:r>
          </a:p>
          <a:p>
            <a:r>
              <a:rPr sz="1100">
                <a:solidFill>
                  <a:srgbClr val="111827"/>
                </a:solidFill>
                <a:latin typeface="Poppins"/>
              </a:rPr>
              <a:t>Al-Enhanced_x000B_Assessment Solutions</a:t>
            </a:r>
          </a:p>
          <a:p>
            <a:r>
              <a:rPr sz="1100">
                <a:solidFill>
                  <a:srgbClr val="111827"/>
                </a:solidFill>
                <a:latin typeface="Poppins"/>
              </a:rPr>
              <a:t>AI-Driven</a:t>
            </a:r>
          </a:p>
          <a:p>
            <a:r>
              <a:rPr sz="1100">
                <a:solidFill>
                  <a:srgbClr val="111827"/>
                </a:solidFill>
                <a:latin typeface="Poppins"/>
              </a:rPr>
              <a:t>Career Paths</a:t>
            </a:r>
          </a:p>
          <a:p>
            <a:r>
              <a:rPr sz="1100">
                <a:solidFill>
                  <a:srgbClr val="111827"/>
                </a:solidFill>
                <a:latin typeface="Poppins"/>
              </a:rPr>
              <a:t>Al-Powered Job</a:t>
            </a:r>
          </a:p>
          <a:p>
            <a:r>
              <a:rPr sz="1100">
                <a:solidFill>
                  <a:srgbClr val="111827"/>
                </a:solidFill>
                <a:latin typeface="Poppins"/>
              </a:rPr>
              <a:t>Profile Creation</a:t>
            </a:r>
          </a:p>
          <a:p>
            <a:r>
              <a:rPr sz="1100">
                <a:solidFill>
                  <a:srgbClr val="111827"/>
                </a:solidFill>
                <a:latin typeface="Poppins"/>
              </a:rPr>
              <a:t>Automated</a:t>
            </a:r>
          </a:p>
          <a:p>
            <a:r>
              <a:rPr sz="1100">
                <a:solidFill>
                  <a:srgbClr val="111827"/>
                </a:solidFill>
                <a:latin typeface="Poppins"/>
              </a:rPr>
              <a:t>Skills Rubric</a:t>
            </a:r>
          </a:p>
          <a:p>
            <a:r>
              <a:rPr sz="1100">
                <a:solidFill>
                  <a:srgbClr val="111827"/>
                </a:solidFill>
                <a:latin typeface="Poppins"/>
              </a:rPr>
              <a:t>Adjacent Learning</a:t>
            </a:r>
          </a:p>
          <a:p>
            <a:r>
              <a:rPr sz="1100">
                <a:solidFill>
                  <a:srgbClr val="111827"/>
                </a:solidFill>
                <a:latin typeface="Poppins"/>
              </a:rPr>
              <a:t>Recommendations</a:t>
            </a:r>
          </a:p>
          <a:p>
            <a:r>
              <a:rPr sz="1100">
                <a:solidFill>
                  <a:srgbClr val="111827"/>
                </a:solidFill>
                <a:latin typeface="Poppins"/>
              </a:rPr>
              <a:t>Adjacent</a:t>
            </a:r>
          </a:p>
          <a:p>
            <a:r>
              <a:rPr sz="1100">
                <a:solidFill>
                  <a:srgbClr val="111827"/>
                </a:solidFill>
                <a:latin typeface="Poppins"/>
              </a:rPr>
              <a:t>Skills Inference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324600" y="1257300"/>
            <a:ext cx="5410200" cy="4800600"/>
          </a:xfrm>
          <a:prstGeom prst="rect">
            <a:avLst/>
          </a:prstGeom>
          <a:noFill/>
          <a:ln w="12700">
            <a:solidFill>
              <a:srgbClr val="481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>
                <a:solidFill>
                  <a:srgbClr val="481AEC"/>
                </a:solidFill>
                <a:latin typeface="Poppins"/>
              </a:rPr>
              <a:t>[ INFOGRAPHIC REGION ]</a:t>
            </a:r>
          </a:p>
        </p:txBody>
      </p:sp>
      <p:pic>
        <p:nvPicPr>
          <p:cNvPr id="5" name="Picture 4" descr="logo_foo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286500"/>
            <a:ext cx="1193800" cy="3429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0">
                <a:solidFill>
                  <a:srgbClr val="111827"/>
                </a:solidFill>
                <a:latin typeface="Playfair Display"/>
              </a:rPr>
              <a:t>Skill Gap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57300"/>
            <a:ext cx="541020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11827"/>
                </a:solidFill>
                <a:latin typeface="Poppins"/>
              </a:rPr>
              <a:t>Uncover the skill gaps. Build a future-ready workforce.​</a:t>
            </a:r>
          </a:p>
          <a:p>
            <a:r>
              <a:rPr sz="1100">
                <a:solidFill>
                  <a:srgbClr val="111827"/>
                </a:solidFill>
                <a:latin typeface="Poppins"/>
              </a:rPr>
              <a:t>Identify gaps vs. business needs with visual insights aligned to internal benchmarks and market standards.</a:t>
            </a:r>
          </a:p>
          <a:p>
            <a:r>
              <a:rPr sz="1100">
                <a:solidFill>
                  <a:srgbClr val="111827"/>
                </a:solidFill>
                <a:latin typeface="Poppins"/>
              </a:rPr>
              <a:t>Build live skill profiles via AI inference, assessments, and LMS/LXP integrations.</a:t>
            </a:r>
          </a:p>
          <a:p>
            <a:r>
              <a:rPr sz="1100">
                <a:solidFill>
                  <a:srgbClr val="111827"/>
                </a:solidFill>
                <a:latin typeface="Poppins"/>
              </a:rPr>
              <a:t>Aggregate skills data to reveal strengths and gaps across teams for smarter reskilling, succession, and optimization.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6324600" y="1257300"/>
            <a:ext cx="5410200" cy="4800600"/>
          </a:xfrm>
          <a:prstGeom prst="rect">
            <a:avLst/>
          </a:prstGeom>
          <a:noFill/>
          <a:ln w="12700">
            <a:solidFill>
              <a:srgbClr val="481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>
                <a:solidFill>
                  <a:srgbClr val="481AEC"/>
                </a:solidFill>
                <a:latin typeface="Poppins"/>
              </a:rPr>
              <a:t>[ INFOGRAPHIC REGION ]</a:t>
            </a:r>
          </a:p>
        </p:txBody>
      </p:sp>
      <p:pic>
        <p:nvPicPr>
          <p:cNvPr id="5" name="Picture 4" descr="logo_foo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286500"/>
            <a:ext cx="1193800" cy="3429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0">
                <a:solidFill>
                  <a:srgbClr val="111827"/>
                </a:solidFill>
                <a:latin typeface="Playfair Display"/>
              </a:rPr>
              <a:t>Why iMocha Created the Product (SI)?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57300"/>
            <a:ext cx="541020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11827"/>
                </a:solidFill>
                <a:latin typeface="Poppins"/>
              </a:rPr>
              <a:t>Bridge the _x000B_Skills Data Gap</a:t>
            </a:r>
          </a:p>
          <a:p>
            <a:r>
              <a:rPr sz="1100">
                <a:solidFill>
                  <a:srgbClr val="111827"/>
                </a:solidFill>
                <a:latin typeface="Poppins"/>
              </a:rPr>
              <a:t>Enable Skills-First Decision Making</a:t>
            </a:r>
          </a:p>
          <a:p>
            <a:r>
              <a:rPr sz="1100">
                <a:solidFill>
                  <a:srgbClr val="111827"/>
                </a:solidFill>
                <a:latin typeface="Poppins"/>
              </a:rPr>
              <a:t>Integrate Seamlessly with Existing HR Tech</a:t>
            </a:r>
          </a:p>
          <a:p>
            <a:r>
              <a:rPr sz="1100">
                <a:solidFill>
                  <a:srgbClr val="111827"/>
                </a:solidFill>
                <a:latin typeface="Poppins"/>
              </a:rPr>
              <a:t>Enrich Skills _x000B_Ecosystems</a:t>
            </a:r>
          </a:p>
          <a:p>
            <a:r>
              <a:rPr sz="1100">
                <a:solidFill>
                  <a:srgbClr val="111827"/>
                </a:solidFill>
                <a:latin typeface="Poppins"/>
              </a:rPr>
              <a:t>Support Strategic _x000B_Talent Planning</a:t>
            </a:r>
          </a:p>
          <a:p>
            <a:r>
              <a:rPr sz="1100">
                <a:solidFill>
                  <a:srgbClr val="111827"/>
                </a:solidFill>
                <a:latin typeface="Poppins"/>
              </a:rPr>
              <a:t>Drive Workforce _x000B_Agility</a:t>
            </a:r>
          </a:p>
          <a:p>
            <a:r>
              <a:rPr sz="1100">
                <a:solidFill>
                  <a:srgbClr val="111827"/>
                </a:solidFill>
                <a:latin typeface="Poppins"/>
              </a:rPr>
              <a:t>Validate Skills Objectively</a:t>
            </a:r>
          </a:p>
        </p:txBody>
      </p:sp>
      <p:sp>
        <p:nvSpPr>
          <p:cNvPr id="4" name="Rectangle 3"/>
          <p:cNvSpPr/>
          <p:nvPr/>
        </p:nvSpPr>
        <p:spPr>
          <a:xfrm>
            <a:off x="6324600" y="1257300"/>
            <a:ext cx="5410200" cy="4800600"/>
          </a:xfrm>
          <a:prstGeom prst="rect">
            <a:avLst/>
          </a:prstGeom>
          <a:noFill/>
          <a:ln w="12700">
            <a:solidFill>
              <a:srgbClr val="481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>
                <a:solidFill>
                  <a:srgbClr val="481AEC"/>
                </a:solidFill>
                <a:latin typeface="Poppins"/>
              </a:rPr>
              <a:t>[ INFOGRAPHIC REGION ]</a:t>
            </a:r>
          </a:p>
        </p:txBody>
      </p:sp>
      <p:pic>
        <p:nvPicPr>
          <p:cNvPr id="5" name="Picture 4" descr="logo_foo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286500"/>
            <a:ext cx="1193800" cy="3429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="1">
          <a:gsLst>
            <a:gs pos="0">
              <a:srgbClr val="FF4A00"/>
            </a:gs>
            <a:gs pos="100000">
              <a:srgbClr val="481AEC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43000" y="2057400"/>
            <a:ext cx="990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0">
                <a:solidFill>
                  <a:srgbClr val="FFFFFF"/>
                </a:solidFill>
                <a:latin typeface="Playfair Display"/>
              </a:rPr>
              <a:t>Skills Visibility. Business Agility.</a:t>
            </a:r>
          </a:p>
        </p:txBody>
      </p:sp>
      <p:pic>
        <p:nvPicPr>
          <p:cNvPr id="3" name="Picture 2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057900"/>
            <a:ext cx="1175657" cy="3429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iMocha 2024">
      <a:dk1>
        <a:srgbClr val="111827"/>
      </a:dk1>
      <a:lt1>
        <a:srgbClr val="FFFFFF"/>
      </a:lt1>
      <a:dk2>
        <a:srgbClr val="481AEC"/>
      </a:dk2>
      <a:lt2>
        <a:srgbClr val="F3F4F6"/>
      </a:lt2>
      <a:accent1>
        <a:srgbClr val="FF4A00"/>
      </a:accent1>
      <a:accent2>
        <a:srgbClr val="FD5B0E"/>
      </a:accent2>
      <a:accent3>
        <a:srgbClr val="7C3AED"/>
      </a:accent3>
      <a:accent4>
        <a:srgbClr val="6366F1"/>
      </a:accent4>
      <a:accent5>
        <a:srgbClr val="EDE9FE"/>
      </a:accent5>
      <a:accent6>
        <a:srgbClr val="5B21B6"/>
      </a:accent6>
      <a:hlink>
        <a:srgbClr val="481AEC"/>
      </a:hlink>
      <a:folHlink>
        <a:srgbClr val="7C3AED"/>
      </a:folHlink>
    </a:clrScheme>
    <a:fontScheme name="iMocha Brand">
      <a:majorFont>
        <a:latin typeface="Playfair Display"/>
        <a:ea typeface=""/>
        <a:cs typeface=""/>
      </a:majorFont>
      <a:minorFont>
        <a:latin typeface="Poppi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