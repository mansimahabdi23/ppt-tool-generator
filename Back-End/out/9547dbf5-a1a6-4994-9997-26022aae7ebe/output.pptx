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4003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iMocha AI Presentation Studio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FF4A00"/>
                </a:solidFill>
                <a:latin typeface="Playfair Display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7300"/>
            <a:ext cx="10963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11827"/>
                </a:solidFill>
                <a:latin typeface="Poppins"/>
              </a:rPr>
              <a:t>01  Introduction &amp; Context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02  Key Findings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03  Data &amp; Insights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04  Recommendations</a:t>
            </a:r>
          </a:p>
          <a:p>
            <a:r>
              <a:rPr sz="1200">
                <a:solidFill>
                  <a:srgbClr val="111827"/>
                </a:solidFill>
                <a:latin typeface="Poppins"/>
              </a:rPr>
              <a:t>05  Next Steps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Eg: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Key Findings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Hiring quality improved 34% with structured assessment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Time-to-hire reduced by 2.1 weeks on average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Candidate experience scores increased to 4.6 / 5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[ INFOGRAPHIC REGION ]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Infographic Name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Step 1(Highlighted)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Headline In Two Lines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adipiscing elit, sed do eiusmod tempor incididunt ut labore et dolore magna. Lorem ipsum dolor sit a, consectetur adipiscing.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Step 2 (Un-Highlighted)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Headline In Two Lines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adipiscing elit, sed do eiusmod tempor incididunt ut labore et dolore magna. Lorem ipsum dolor sit a, consectetur adipiscing.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Step 3 (Un-Highlighted)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Headline In Two Lines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adipiscing elit, sed do eiusmod tempor incididunt ut labore et dolore magna. Lorem ipsum dolor sit a, consectetur adipiscing.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Eg: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Assessment Performance Trends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Source: iMocha platform data, Q1-Q3 2024  |  n = 12 400 candidates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[ INFOGRAPHIC REGION ]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Infographic Name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Step 2 (Highlighted)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Headline In Two Lines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adipiscing elit, sed do eiusmod tempor incididunt ut labore et dolore magna. Lorem ipsum dolor sit a, consectetur adipiscing.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Step 3 (Un-Highlighted)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Headline In Two Lines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adipiscing elit, sed do eiusmod tempor incididunt ut labore et dolore magna. Lorem ipsum dolor sit a, consectetur adipiscing.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Step 3 (Un-Highlighted)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Headline In Two Lines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adipiscing elit, sed do eiusmod tempor incididunt ut labore et dolore magna. Lorem ipsum dolor sit a, consectetur adipiscing.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adipisci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consectetur adipisc</a:t>
            </a:r>
          </a:p>
          <a:p>
            <a:r>
              <a:rPr sz="1100">
                <a:solidFill>
                  <a:srgbClr val="111827"/>
                </a:solidFill>
                <a:latin typeface="Poppins"/>
              </a:rPr>
              <a:t>Lorem ipsum dolor sit a, consectet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11827"/>
                </a:solidFill>
                <a:latin typeface="Playfair Display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57300"/>
            <a:ext cx="54102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11827"/>
                </a:solidFill>
                <a:latin typeface="Poppins"/>
              </a:rPr>
              <a:t>Section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324600" y="1257300"/>
            <a:ext cx="5410200" cy="4800600"/>
          </a:xfrm>
          <a:prstGeom prst="rect">
            <a:avLst/>
          </a:prstGeom>
          <a:noFill/>
          <a:ln w="12700">
            <a:solidFill>
              <a:srgbClr val="481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481AEC"/>
                </a:solidFill>
                <a:latin typeface="Poppins"/>
              </a:rPr>
              <a:t>[ INFOGRAPHIC REGION ]</a:t>
            </a:r>
          </a:p>
        </p:txBody>
      </p:sp>
      <p:pic>
        <p:nvPicPr>
          <p:cNvPr id="5" name="Picture 4" descr="logo_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00"/>
            <a:ext cx="1193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FF4A00"/>
            </a:gs>
            <a:gs pos="100000">
              <a:srgbClr val="481AE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2057400"/>
            <a:ext cx="990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FFFFFF"/>
                </a:solidFill>
                <a:latin typeface="Playfair Display"/>
              </a:rPr>
              <a:t>Thank You</a:t>
            </a:r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57900"/>
            <a:ext cx="1175657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Mocha 2024">
      <a:dk1>
        <a:srgbClr val="111827"/>
      </a:dk1>
      <a:lt1>
        <a:srgbClr val="FFFFFF"/>
      </a:lt1>
      <a:dk2>
        <a:srgbClr val="481AEC"/>
      </a:dk2>
      <a:lt2>
        <a:srgbClr val="F3F4F6"/>
      </a:lt2>
      <a:accent1>
        <a:srgbClr val="FF4A00"/>
      </a:accent1>
      <a:accent2>
        <a:srgbClr val="FD5B0E"/>
      </a:accent2>
      <a:accent3>
        <a:srgbClr val="7C3AED"/>
      </a:accent3>
      <a:accent4>
        <a:srgbClr val="6366F1"/>
      </a:accent4>
      <a:accent5>
        <a:srgbClr val="EDE9FE"/>
      </a:accent5>
      <a:accent6>
        <a:srgbClr val="5B21B6"/>
      </a:accent6>
      <a:hlink>
        <a:srgbClr val="481AEC"/>
      </a:hlink>
      <a:folHlink>
        <a:srgbClr val="7C3AED"/>
      </a:folHlink>
    </a:clrScheme>
    <a:fontScheme name="iMocha Brand">
      <a:majorFont>
        <a:latin typeface="Playfair Display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