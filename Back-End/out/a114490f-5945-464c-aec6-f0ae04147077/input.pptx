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400300"/>
            <a:ext cx="990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FFFFFF"/>
                </a:solidFill>
                <a:latin typeface="Playfair Display"/>
              </a:rPr>
              <a:t>iMocha AI Presentation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85900"/>
            <a:ext cx="990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Poppins"/>
              </a:rPr>
              <a:t>Transform any deck into an on-brand iMocha presentation</a:t>
            </a:r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57900"/>
            <a:ext cx="1175657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9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FF4A00"/>
                </a:solidFill>
                <a:latin typeface="Playfair Display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7300"/>
            <a:ext cx="10963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11827"/>
                </a:solidFill>
                <a:latin typeface="Poppins"/>
              </a:rPr>
              <a:t>01  Introduction &amp; Context</a:t>
            </a:r>
          </a:p>
          <a:p>
            <a:r>
              <a:rPr sz="1200">
                <a:solidFill>
                  <a:srgbClr val="111827"/>
                </a:solidFill>
                <a:latin typeface="Poppins"/>
              </a:rPr>
              <a:t>02  Key Findings</a:t>
            </a:r>
          </a:p>
          <a:p>
            <a:r>
              <a:rPr sz="1200">
                <a:solidFill>
                  <a:srgbClr val="111827"/>
                </a:solidFill>
                <a:latin typeface="Poppins"/>
              </a:rPr>
              <a:t>03  Data &amp; Insights</a:t>
            </a:r>
          </a:p>
          <a:p>
            <a:r>
              <a:rPr sz="1200">
                <a:solidFill>
                  <a:srgbClr val="111827"/>
                </a:solidFill>
                <a:latin typeface="Poppins"/>
              </a:rPr>
              <a:t>04  Recommendations</a:t>
            </a:r>
          </a:p>
          <a:p>
            <a:r>
              <a:rPr sz="1200">
                <a:solidFill>
                  <a:srgbClr val="111827"/>
                </a:solidFill>
                <a:latin typeface="Poppins"/>
              </a:rPr>
              <a:t>05  Next Steps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111827"/>
                </a:solidFill>
                <a:latin typeface="Playfair Display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7300"/>
            <a:ext cx="5410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827"/>
                </a:solidFill>
                <a:latin typeface="Poppins"/>
              </a:rPr>
              <a:t>Hiring quality improved 34% with structured assessment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Time-to-hire reduced by 2.1 weeks on average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Candidate experience scores increased to 4.6 / 5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4600" y="1257300"/>
            <a:ext cx="5410200" cy="4800600"/>
          </a:xfrm>
          <a:prstGeom prst="rect">
            <a:avLst/>
          </a:prstGeom>
          <a:noFill/>
          <a:ln w="12700">
            <a:solidFill>
              <a:srgbClr val="481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481AEC"/>
                </a:solidFill>
                <a:latin typeface="Poppins"/>
              </a:rPr>
              <a:t>[ INFOGRAPHIC REGION ]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  <p:grpSp>
        <p:nvGrpSpPr>
          <p:cNvPr id="6" name="InfographicFragment"/>
          <p:cNvGrpSpPr/>
          <p:nvPr/>
        </p:nvGrpSpPr>
        <p:grpSpPr>
          <a:xfrm>
            <a:off x="6324600" y="1257300"/>
            <a:ext cx="5410200" cy="4800600"/>
            <a:chOff x="0" y="0"/>
            <a:chExt cx="12192000" cy="6858000"/>
          </a:xfrm>
        </p:grpSpPr>
        <p:cxnSp>
          <p:nvCxnSpPr>
            <p:cNvPr id="7" name="Straight Connector 9">
              <a:extLst>
                <a:ext uri="{FF2B5EF4-FFF2-40B4-BE49-F238E27FC236}">
                  <a16:creationId xmlns:a16="http://schemas.microsoft.com/office/drawing/2014/main" id="8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0765" y="1883123"/>
              <a:ext cx="4190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5">
              <a:extLst>
                <a:ext uri="{FF2B5EF4-FFF2-40B4-BE49-F238E27FC236}">
                  <a16:creationId xmlns:a16="http://schemas.microsoft.com/office/drawing/2014/main" id="10"/>
                </a:ext>
              </a:extLst>
            </p:cNvPr>
            <p:cNvCxnSpPr>
              <a:cxnSpLocks/>
            </p:cNvCxnSpPr>
            <p:nvPr/>
          </p:nvCxnSpPr>
          <p:spPr>
            <a:xfrm>
              <a:off x="4129780" y="1878516"/>
              <a:ext cx="0" cy="398285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12"/>
                </a:ext>
              </a:extLst>
            </p:cNvPr>
            <p:cNvSpPr txBox="1"/>
            <p:nvPr/>
          </p:nvSpPr>
          <p:spPr>
            <a:xfrm>
              <a:off x="423862" y="280634"/>
              <a:ext cx="11272838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400" err="1">
                  <a:solidFill>
                    <a:srgbClr val="FF4A00"/>
                  </a:solidFill>
                  <a:latin typeface="Playfair Display" pitchFamily="2" charset="77"/>
                </a:rPr>
                <a:t>Eg</a:t>
              </a:r>
              <a:r>
                <a:rPr lang="en-US" sz="3400">
                  <a:solidFill>
                    <a:srgbClr val="FF4A00"/>
                  </a:solidFill>
                  <a:latin typeface="Playfair Display" pitchFamily="2" charset="77"/>
                </a:rPr>
                <a:t>: Category</a:t>
              </a:r>
            </a:p>
          </p:txBody>
        </p:sp>
        <p:sp>
          <p:nvSpPr>
            <p:cNvPr id="13" name="TextBox 3">
              <a:extLst>
                <a:ext uri="{FF2B5EF4-FFF2-40B4-BE49-F238E27FC236}">
                  <a16:creationId xmlns:a16="http://schemas.microsoft.com/office/drawing/2014/main" id="14"/>
                </a:ext>
              </a:extLst>
            </p:cNvPr>
            <p:cNvSpPr txBox="1"/>
            <p:nvPr/>
          </p:nvSpPr>
          <p:spPr>
            <a:xfrm>
              <a:off x="423862" y="836812"/>
              <a:ext cx="5507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Infographic Name</a:t>
              </a:r>
            </a:p>
          </p:txBody>
        </p:sp>
        <p:sp>
          <p:nvSpPr>
            <p:cNvPr id="15" name="Google Shape;6381;p703">
              <a:extLst>
                <a:ext uri="{FF2B5EF4-FFF2-40B4-BE49-F238E27FC236}">
                  <a16:creationId xmlns:a16="http://schemas.microsoft.com/office/drawing/2014/main" id="16"/>
                </a:ext>
              </a:extLst>
            </p:cNvPr>
            <p:cNvSpPr/>
            <p:nvPr/>
          </p:nvSpPr>
          <p:spPr>
            <a:xfrm>
              <a:off x="751281" y="1588345"/>
              <a:ext cx="3108342" cy="589556"/>
            </a:xfrm>
            <a:prstGeom prst="homePlate">
              <a:avLst>
                <a:gd name="adj" fmla="val 50000"/>
              </a:avLst>
            </a:prstGeom>
            <a:solidFill>
              <a:srgbClr val="FF4A00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  <a:tabLst/>
                <a:defRPr/>
              </a:pPr>
              <a:r>
                <a:rPr kumimoji="0" lang="en-GB" sz="140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 Medium" pitchFamily="2" charset="77"/>
                  <a:ea typeface="Arial"/>
                  <a:cs typeface="Poppins Medium" pitchFamily="2" charset="77"/>
                  <a:sym typeface="Arial"/>
                </a:rPr>
                <a:t>   Step 1(Highlighted)</a:t>
              </a:r>
              <a:endParaRPr kumimoji="0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Arial"/>
              </a:endParaRPr>
            </a:p>
          </p:txBody>
        </p:sp>
        <p:grpSp>
          <p:nvGrpSpPr>
            <p:cNvPr id="17" name="Group 13">
              <a:extLst>
                <a:ext uri="{FF2B5EF4-FFF2-40B4-BE49-F238E27FC236}">
                  <a16:creationId xmlns:a16="http://schemas.microsoft.com/office/drawing/2014/main" id="18"/>
                </a:ext>
              </a:extLst>
            </p:cNvPr>
            <p:cNvGrpSpPr/>
            <p:nvPr/>
          </p:nvGrpSpPr>
          <p:grpSpPr>
            <a:xfrm>
              <a:off x="4034826" y="5723902"/>
              <a:ext cx="189907" cy="189907"/>
              <a:chOff x="1054098" y="3143250"/>
              <a:chExt cx="285750" cy="285750"/>
            </a:xfrm>
          </p:grpSpPr>
          <p:sp>
            <p:nvSpPr>
              <p:cNvPr id="19" name="Oval 14">
                <a:extLst>
                  <a:ext uri="{FF2B5EF4-FFF2-40B4-BE49-F238E27FC236}">
                    <a16:creationId xmlns:a16="http://schemas.microsoft.com/office/drawing/2014/main" id="20"/>
                  </a:ext>
                </a:extLst>
              </p:cNvPr>
              <p:cNvSpPr/>
              <p:nvPr/>
            </p:nvSpPr>
            <p:spPr>
              <a:xfrm>
                <a:off x="1054098" y="3143250"/>
                <a:ext cx="285750" cy="28575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15">
                <a:extLst>
                  <a:ext uri="{FF2B5EF4-FFF2-40B4-BE49-F238E27FC236}">
                    <a16:creationId xmlns:a16="http://schemas.microsoft.com/office/drawing/2014/main" id="22"/>
                  </a:ext>
                </a:extLst>
              </p:cNvPr>
              <p:cNvSpPr/>
              <p:nvPr/>
            </p:nvSpPr>
            <p:spPr>
              <a:xfrm>
                <a:off x="1127916" y="3217068"/>
                <a:ext cx="138115" cy="13811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ounded Rectangle 16">
              <a:extLst>
                <a:ext uri="{FF2B5EF4-FFF2-40B4-BE49-F238E27FC236}">
                  <a16:creationId xmlns:a16="http://schemas.microsoft.com/office/drawing/2014/main" id="24"/>
                </a:ext>
              </a:extLst>
            </p:cNvPr>
            <p:cNvSpPr/>
            <p:nvPr/>
          </p:nvSpPr>
          <p:spPr>
            <a:xfrm>
              <a:off x="751281" y="2296641"/>
              <a:ext cx="3108340" cy="1669304"/>
            </a:xfrm>
            <a:prstGeom prst="roundRect">
              <a:avLst>
                <a:gd name="adj" fmla="val 727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17">
              <a:extLst>
                <a:ext uri="{FF2B5EF4-FFF2-40B4-BE49-F238E27FC236}">
                  <a16:creationId xmlns:a16="http://schemas.microsoft.com/office/drawing/2014/main" id="26"/>
                </a:ext>
              </a:extLst>
            </p:cNvPr>
            <p:cNvSpPr txBox="1"/>
            <p:nvPr/>
          </p:nvSpPr>
          <p:spPr>
            <a:xfrm>
              <a:off x="751281" y="4049298"/>
              <a:ext cx="19600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rgbClr val="210032"/>
                  </a:solidFill>
                  <a:latin typeface="Poppins Medium" pitchFamily="2" charset="77"/>
                  <a:cs typeface="Poppins Medium" pitchFamily="2" charset="77"/>
                </a:rPr>
                <a:t>Headline In </a:t>
              </a:r>
              <a:r>
                <a:rPr lang="en-US" sz="12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Two</a:t>
              </a:r>
              <a:r>
                <a:rPr lang="en-US" sz="1200">
                  <a:solidFill>
                    <a:srgbClr val="210032"/>
                  </a:solidFill>
                  <a:latin typeface="Poppins Medium" pitchFamily="2" charset="77"/>
                  <a:cs typeface="Poppins Medium" pitchFamily="2" charset="77"/>
                </a:rPr>
                <a:t> Lines</a:t>
              </a:r>
            </a:p>
          </p:txBody>
        </p:sp>
        <p:sp>
          <p:nvSpPr>
            <p:cNvPr id="27" name="TextBox 18">
              <a:extLst>
                <a:ext uri="{FF2B5EF4-FFF2-40B4-BE49-F238E27FC236}">
                  <a16:creationId xmlns:a16="http://schemas.microsoft.com/office/drawing/2014/main" id="28"/>
                </a:ext>
              </a:extLst>
            </p:cNvPr>
            <p:cNvSpPr txBox="1"/>
            <p:nvPr/>
          </p:nvSpPr>
          <p:spPr>
            <a:xfrm>
              <a:off x="751281" y="4283765"/>
              <a:ext cx="310833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adipiscing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elit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, sed do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dolore magna. Lorem ipsum dolor sit a,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adipiscing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.</a:t>
              </a:r>
            </a:p>
          </p:txBody>
        </p:sp>
        <p:sp>
          <p:nvSpPr>
            <p:cNvPr id="29" name="TextBox 19">
              <a:extLst>
                <a:ext uri="{FF2B5EF4-FFF2-40B4-BE49-F238E27FC236}">
                  <a16:creationId xmlns:a16="http://schemas.microsoft.com/office/drawing/2014/main" id="30"/>
                </a:ext>
              </a:extLst>
            </p:cNvPr>
            <p:cNvSpPr txBox="1"/>
            <p:nvPr/>
          </p:nvSpPr>
          <p:spPr>
            <a:xfrm>
              <a:off x="751281" y="5012415"/>
              <a:ext cx="3108329" cy="906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31" name="Straight Connector 20">
              <a:extLst>
                <a:ext uri="{FF2B5EF4-FFF2-40B4-BE49-F238E27FC236}">
                  <a16:creationId xmlns:a16="http://schemas.microsoft.com/office/drawing/2014/main" id="32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9421" y="1878500"/>
              <a:ext cx="4190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21">
              <a:extLst>
                <a:ext uri="{FF2B5EF4-FFF2-40B4-BE49-F238E27FC236}">
                  <a16:creationId xmlns:a16="http://schemas.microsoft.com/office/drawing/2014/main" id="34"/>
                </a:ext>
              </a:extLst>
            </p:cNvPr>
            <p:cNvCxnSpPr>
              <a:cxnSpLocks/>
            </p:cNvCxnSpPr>
            <p:nvPr/>
          </p:nvCxnSpPr>
          <p:spPr>
            <a:xfrm>
              <a:off x="7778436" y="1873893"/>
              <a:ext cx="0" cy="398285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Google Shape;6381;p703">
              <a:extLst>
                <a:ext uri="{FF2B5EF4-FFF2-40B4-BE49-F238E27FC236}">
                  <a16:creationId xmlns:a16="http://schemas.microsoft.com/office/drawing/2014/main" id="36"/>
                </a:ext>
              </a:extLst>
            </p:cNvPr>
            <p:cNvSpPr/>
            <p:nvPr/>
          </p:nvSpPr>
          <p:spPr>
            <a:xfrm>
              <a:off x="4399937" y="1583722"/>
              <a:ext cx="3108342" cy="589556"/>
            </a:xfrm>
            <a:prstGeom prst="homePlate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  <a:tabLst/>
                <a:defRPr/>
              </a:pPr>
              <a:r>
                <a:rPr kumimoji="0" lang="en-GB" sz="140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Poppins Medium" pitchFamily="2" charset="77"/>
                  <a:ea typeface="Arial"/>
                  <a:cs typeface="Poppins Medium" pitchFamily="2" charset="77"/>
                  <a:sym typeface="Arial"/>
                </a:rPr>
                <a:t> Step 2 (Un-Highlighted)</a:t>
              </a:r>
              <a:endPara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Arial"/>
              </a:endParaRPr>
            </a:p>
          </p:txBody>
        </p:sp>
        <p:sp>
          <p:nvSpPr>
            <p:cNvPr id="37" name="Rounded Rectangle 26">
              <a:extLst>
                <a:ext uri="{FF2B5EF4-FFF2-40B4-BE49-F238E27FC236}">
                  <a16:creationId xmlns:a16="http://schemas.microsoft.com/office/drawing/2014/main" id="38"/>
                </a:ext>
              </a:extLst>
            </p:cNvPr>
            <p:cNvSpPr/>
            <p:nvPr/>
          </p:nvSpPr>
          <p:spPr>
            <a:xfrm>
              <a:off x="4399937" y="2292018"/>
              <a:ext cx="3108340" cy="1669304"/>
            </a:xfrm>
            <a:prstGeom prst="roundRect">
              <a:avLst>
                <a:gd name="adj" fmla="val 727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27">
              <a:extLst>
                <a:ext uri="{FF2B5EF4-FFF2-40B4-BE49-F238E27FC236}">
                  <a16:creationId xmlns:a16="http://schemas.microsoft.com/office/drawing/2014/main" id="40"/>
                </a:ext>
              </a:extLst>
            </p:cNvPr>
            <p:cNvSpPr txBox="1"/>
            <p:nvPr/>
          </p:nvSpPr>
          <p:spPr>
            <a:xfrm>
              <a:off x="4399937" y="4044675"/>
              <a:ext cx="19600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rgbClr val="210032"/>
                  </a:solidFill>
                  <a:latin typeface="Poppins Medium" pitchFamily="2" charset="77"/>
                  <a:cs typeface="Poppins Medium" pitchFamily="2" charset="77"/>
                </a:rPr>
                <a:t>Headline In </a:t>
              </a:r>
              <a:r>
                <a:rPr lang="en-US" sz="12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Two</a:t>
              </a:r>
              <a:r>
                <a:rPr lang="en-US" sz="1200">
                  <a:solidFill>
                    <a:srgbClr val="210032"/>
                  </a:solidFill>
                  <a:latin typeface="Poppins Medium" pitchFamily="2" charset="77"/>
                  <a:cs typeface="Poppins Medium" pitchFamily="2" charset="77"/>
                </a:rPr>
                <a:t> Lines</a:t>
              </a:r>
            </a:p>
          </p:txBody>
        </p:sp>
        <p:sp>
          <p:nvSpPr>
            <p:cNvPr id="41" name="TextBox 28">
              <a:extLst>
                <a:ext uri="{FF2B5EF4-FFF2-40B4-BE49-F238E27FC236}">
                  <a16:creationId xmlns:a16="http://schemas.microsoft.com/office/drawing/2014/main" id="42"/>
                </a:ext>
              </a:extLst>
            </p:cNvPr>
            <p:cNvSpPr txBox="1"/>
            <p:nvPr/>
          </p:nvSpPr>
          <p:spPr>
            <a:xfrm>
              <a:off x="4399937" y="4279142"/>
              <a:ext cx="310833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adipiscing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elit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, sed do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dolore magna. Lorem ipsum dolor sit a,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adipiscing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.</a:t>
              </a:r>
            </a:p>
          </p:txBody>
        </p:sp>
        <p:sp>
          <p:nvSpPr>
            <p:cNvPr id="43" name="TextBox 29">
              <a:extLst>
                <a:ext uri="{FF2B5EF4-FFF2-40B4-BE49-F238E27FC236}">
                  <a16:creationId xmlns:a16="http://schemas.microsoft.com/office/drawing/2014/main" id="44"/>
                </a:ext>
              </a:extLst>
            </p:cNvPr>
            <p:cNvSpPr txBox="1"/>
            <p:nvPr/>
          </p:nvSpPr>
          <p:spPr>
            <a:xfrm>
              <a:off x="4399937" y="5007792"/>
              <a:ext cx="3108329" cy="906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5" name="Straight Connector 30">
              <a:extLst>
                <a:ext uri="{FF2B5EF4-FFF2-40B4-BE49-F238E27FC236}">
                  <a16:creationId xmlns:a16="http://schemas.microsoft.com/office/drawing/2014/main" id="46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7575" y="1883123"/>
              <a:ext cx="4190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31">
              <a:extLst>
                <a:ext uri="{FF2B5EF4-FFF2-40B4-BE49-F238E27FC236}">
                  <a16:creationId xmlns:a16="http://schemas.microsoft.com/office/drawing/2014/main" id="48"/>
                </a:ext>
              </a:extLst>
            </p:cNvPr>
            <p:cNvCxnSpPr>
              <a:cxnSpLocks/>
            </p:cNvCxnSpPr>
            <p:nvPr/>
          </p:nvCxnSpPr>
          <p:spPr>
            <a:xfrm>
              <a:off x="11426590" y="1878516"/>
              <a:ext cx="0" cy="398285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Google Shape;6381;p703">
              <a:extLst>
                <a:ext uri="{FF2B5EF4-FFF2-40B4-BE49-F238E27FC236}">
                  <a16:creationId xmlns:a16="http://schemas.microsoft.com/office/drawing/2014/main" id="50"/>
                </a:ext>
              </a:extLst>
            </p:cNvPr>
            <p:cNvSpPr/>
            <p:nvPr/>
          </p:nvSpPr>
          <p:spPr>
            <a:xfrm>
              <a:off x="8048091" y="1588345"/>
              <a:ext cx="3108342" cy="589556"/>
            </a:xfrm>
            <a:prstGeom prst="homePlate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  <a:tabLst/>
                <a:defRPr/>
              </a:pPr>
              <a:r>
                <a:rPr kumimoji="0" lang="en-GB" sz="140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Poppins Medium" pitchFamily="2" charset="77"/>
                  <a:ea typeface="Arial"/>
                  <a:cs typeface="Poppins Medium" pitchFamily="2" charset="77"/>
                  <a:sym typeface="Arial"/>
                </a:rPr>
                <a:t> Step 3 (</a:t>
              </a:r>
              <a:r>
                <a:rPr lang="en-GB" sz="1400" ker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 Medium" pitchFamily="2" charset="77"/>
                  <a:ea typeface="Arial"/>
                  <a:cs typeface="Poppins Medium" pitchFamily="2" charset="77"/>
                  <a:sym typeface="Arial"/>
                </a:rPr>
                <a:t>Un-</a:t>
              </a:r>
              <a:r>
                <a:rPr kumimoji="0" lang="en-GB" sz="140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Poppins Medium" pitchFamily="2" charset="77"/>
                  <a:ea typeface="Arial"/>
                  <a:cs typeface="Poppins Medium" pitchFamily="2" charset="77"/>
                  <a:sym typeface="Arial"/>
                </a:rPr>
                <a:t>Highlighted)</a:t>
              </a:r>
              <a:endParaRPr kumimoji="0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Arial"/>
              </a:endParaRPr>
            </a:p>
          </p:txBody>
        </p:sp>
        <p:sp>
          <p:nvSpPr>
            <p:cNvPr id="51" name="Rounded Rectangle 36">
              <a:extLst>
                <a:ext uri="{FF2B5EF4-FFF2-40B4-BE49-F238E27FC236}">
                  <a16:creationId xmlns:a16="http://schemas.microsoft.com/office/drawing/2014/main" id="52"/>
                </a:ext>
              </a:extLst>
            </p:cNvPr>
            <p:cNvSpPr/>
            <p:nvPr/>
          </p:nvSpPr>
          <p:spPr>
            <a:xfrm>
              <a:off x="8048091" y="2296641"/>
              <a:ext cx="3108340" cy="1669304"/>
            </a:xfrm>
            <a:prstGeom prst="roundRect">
              <a:avLst>
                <a:gd name="adj" fmla="val 727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37">
              <a:extLst>
                <a:ext uri="{FF2B5EF4-FFF2-40B4-BE49-F238E27FC236}">
                  <a16:creationId xmlns:a16="http://schemas.microsoft.com/office/drawing/2014/main" id="54"/>
                </a:ext>
              </a:extLst>
            </p:cNvPr>
            <p:cNvSpPr txBox="1"/>
            <p:nvPr/>
          </p:nvSpPr>
          <p:spPr>
            <a:xfrm>
              <a:off x="8048091" y="4049298"/>
              <a:ext cx="19600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rgbClr val="210032"/>
                  </a:solidFill>
                  <a:latin typeface="Poppins Medium" pitchFamily="2" charset="77"/>
                  <a:cs typeface="Poppins Medium" pitchFamily="2" charset="77"/>
                </a:rPr>
                <a:t>Headline In </a:t>
              </a:r>
              <a:r>
                <a:rPr lang="en-US" sz="12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Two</a:t>
              </a:r>
              <a:r>
                <a:rPr lang="en-US" sz="1200">
                  <a:solidFill>
                    <a:srgbClr val="210032"/>
                  </a:solidFill>
                  <a:latin typeface="Poppins Medium" pitchFamily="2" charset="77"/>
                  <a:cs typeface="Poppins Medium" pitchFamily="2" charset="77"/>
                </a:rPr>
                <a:t> Lines</a:t>
              </a:r>
            </a:p>
          </p:txBody>
        </p:sp>
        <p:sp>
          <p:nvSpPr>
            <p:cNvPr id="55" name="TextBox 38">
              <a:extLst>
                <a:ext uri="{FF2B5EF4-FFF2-40B4-BE49-F238E27FC236}">
                  <a16:creationId xmlns:a16="http://schemas.microsoft.com/office/drawing/2014/main" id="56"/>
                </a:ext>
              </a:extLst>
            </p:cNvPr>
            <p:cNvSpPr txBox="1"/>
            <p:nvPr/>
          </p:nvSpPr>
          <p:spPr>
            <a:xfrm>
              <a:off x="8048091" y="4283765"/>
              <a:ext cx="310833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adipiscing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elit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, sed do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dolore magna. Lorem ipsum dolor sit a,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adipiscing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.</a:t>
              </a:r>
            </a:p>
          </p:txBody>
        </p:sp>
        <p:sp>
          <p:nvSpPr>
            <p:cNvPr id="57" name="TextBox 39">
              <a:extLst>
                <a:ext uri="{FF2B5EF4-FFF2-40B4-BE49-F238E27FC236}">
                  <a16:creationId xmlns:a16="http://schemas.microsoft.com/office/drawing/2014/main" id="58"/>
                </a:ext>
              </a:extLst>
            </p:cNvPr>
            <p:cNvSpPr txBox="1"/>
            <p:nvPr/>
          </p:nvSpPr>
          <p:spPr>
            <a:xfrm>
              <a:off x="8048091" y="5012415"/>
              <a:ext cx="3108329" cy="906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59" name="Picture 40">
              <a:extLst>
                <a:ext uri="{FF2B5EF4-FFF2-40B4-BE49-F238E27FC236}">
                  <a16:creationId xmlns:a16="http://schemas.microsoft.com/office/drawing/2014/main" id="60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6749" y="2454583"/>
              <a:ext cx="2257404" cy="1353421"/>
            </a:xfrm>
            <a:prstGeom prst="rect">
              <a:avLst/>
            </a:prstGeom>
          </p:spPr>
        </p:pic>
        <p:pic>
          <p:nvPicPr>
            <p:cNvPr id="61" name="Picture 41">
              <a:extLst>
                <a:ext uri="{FF2B5EF4-FFF2-40B4-BE49-F238E27FC236}">
                  <a16:creationId xmlns:a16="http://schemas.microsoft.com/office/drawing/2014/main" id="62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2198" y="2454583"/>
              <a:ext cx="2257404" cy="1353421"/>
            </a:xfrm>
            <a:prstGeom prst="rect">
              <a:avLst/>
            </a:prstGeom>
          </p:spPr>
        </p:pic>
        <p:pic>
          <p:nvPicPr>
            <p:cNvPr id="63" name="Picture 42">
              <a:extLst>
                <a:ext uri="{FF2B5EF4-FFF2-40B4-BE49-F238E27FC236}">
                  <a16:creationId xmlns:a16="http://schemas.microsoft.com/office/drawing/2014/main" id="64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78993" y="2454583"/>
              <a:ext cx="2257404" cy="13534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FF4A00"/>
                </a:solidFill>
                <a:latin typeface="Playfair Display"/>
              </a:rPr>
              <a:t>Assessment Performance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72100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827"/>
                </a:solidFill>
                <a:latin typeface="Poppins"/>
              </a:rPr>
              <a:t>Source: iMocha platform data, Q1-Q3 2024  |  n = 12 400 candidates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57300"/>
            <a:ext cx="11277600" cy="3886200"/>
          </a:xfrm>
          <a:prstGeom prst="rect">
            <a:avLst/>
          </a:prstGeom>
          <a:noFill/>
          <a:ln w="12700">
            <a:solidFill>
              <a:srgbClr val="481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481AEC"/>
                </a:solidFill>
                <a:latin typeface="Poppins"/>
              </a:rPr>
              <a:t>[ INFOGRAPHIC REGION ]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  <p:grpSp>
        <p:nvGrpSpPr>
          <p:cNvPr id="6" name="InfographicFragment"/>
          <p:cNvGrpSpPr/>
          <p:nvPr/>
        </p:nvGrpSpPr>
        <p:grpSpPr>
          <a:xfrm>
            <a:off x="457200" y="1257300"/>
            <a:ext cx="11277600" cy="3886200"/>
            <a:chOff x="0" y="0"/>
            <a:chExt cx="12192000" cy="6858000"/>
          </a:xfrm>
        </p:grpSpPr>
        <p:sp>
          <p:nvSpPr>
            <p:cNvPr id="7" name="Rounded Rectangle 16">
              <a:extLst>
                <a:ext uri="{FF2B5EF4-FFF2-40B4-BE49-F238E27FC236}">
                  <a16:creationId xmlns:a16="http://schemas.microsoft.com/office/drawing/2014/main" id="8"/>
                </a:ext>
              </a:extLst>
            </p:cNvPr>
            <p:cNvSpPr/>
            <p:nvPr/>
          </p:nvSpPr>
          <p:spPr>
            <a:xfrm>
              <a:off x="4402129" y="2296641"/>
              <a:ext cx="3108340" cy="1669304"/>
            </a:xfrm>
            <a:prstGeom prst="roundRect">
              <a:avLst>
                <a:gd name="adj" fmla="val 727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9">
              <a:extLst>
                <a:ext uri="{FF2B5EF4-FFF2-40B4-BE49-F238E27FC236}">
                  <a16:creationId xmlns:a16="http://schemas.microsoft.com/office/drawing/2014/main" id="10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1613" y="1883123"/>
              <a:ext cx="4190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5">
              <a:extLst>
                <a:ext uri="{FF2B5EF4-FFF2-40B4-BE49-F238E27FC236}">
                  <a16:creationId xmlns:a16="http://schemas.microsoft.com/office/drawing/2014/main" id="12"/>
                </a:ext>
              </a:extLst>
            </p:cNvPr>
            <p:cNvCxnSpPr>
              <a:cxnSpLocks/>
            </p:cNvCxnSpPr>
            <p:nvPr/>
          </p:nvCxnSpPr>
          <p:spPr>
            <a:xfrm>
              <a:off x="7780628" y="1878516"/>
              <a:ext cx="0" cy="398285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2">
              <a:extLst>
                <a:ext uri="{FF2B5EF4-FFF2-40B4-BE49-F238E27FC236}">
                  <a16:creationId xmlns:a16="http://schemas.microsoft.com/office/drawing/2014/main" id="14"/>
                </a:ext>
              </a:extLst>
            </p:cNvPr>
            <p:cNvSpPr txBox="1"/>
            <p:nvPr/>
          </p:nvSpPr>
          <p:spPr>
            <a:xfrm>
              <a:off x="423862" y="280634"/>
              <a:ext cx="11272838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400" err="1">
                  <a:solidFill>
                    <a:srgbClr val="FF4A00"/>
                  </a:solidFill>
                  <a:latin typeface="Playfair Display" pitchFamily="2" charset="77"/>
                </a:rPr>
                <a:t>Eg</a:t>
              </a:r>
              <a:r>
                <a:rPr lang="en-US" sz="3400">
                  <a:solidFill>
                    <a:srgbClr val="FF4A00"/>
                  </a:solidFill>
                  <a:latin typeface="Playfair Display" pitchFamily="2" charset="77"/>
                </a:rPr>
                <a:t>: Category</a:t>
              </a:r>
            </a:p>
          </p:txBody>
        </p:sp>
        <p:sp>
          <p:nvSpPr>
            <p:cNvPr id="15" name="TextBox 3">
              <a:extLst>
                <a:ext uri="{FF2B5EF4-FFF2-40B4-BE49-F238E27FC236}">
                  <a16:creationId xmlns:a16="http://schemas.microsoft.com/office/drawing/2014/main" id="16"/>
                </a:ext>
              </a:extLst>
            </p:cNvPr>
            <p:cNvSpPr txBox="1"/>
            <p:nvPr/>
          </p:nvSpPr>
          <p:spPr>
            <a:xfrm>
              <a:off x="423862" y="836812"/>
              <a:ext cx="5507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Infographic Name</a:t>
              </a:r>
            </a:p>
          </p:txBody>
        </p:sp>
        <p:sp>
          <p:nvSpPr>
            <p:cNvPr id="17" name="Google Shape;6381;p703">
              <a:extLst>
                <a:ext uri="{FF2B5EF4-FFF2-40B4-BE49-F238E27FC236}">
                  <a16:creationId xmlns:a16="http://schemas.microsoft.com/office/drawing/2014/main" id="18"/>
                </a:ext>
              </a:extLst>
            </p:cNvPr>
            <p:cNvSpPr/>
            <p:nvPr/>
          </p:nvSpPr>
          <p:spPr>
            <a:xfrm>
              <a:off x="4402129" y="1588345"/>
              <a:ext cx="3108342" cy="589556"/>
            </a:xfrm>
            <a:prstGeom prst="homePlate">
              <a:avLst>
                <a:gd name="adj" fmla="val 50000"/>
              </a:avLst>
            </a:prstGeom>
            <a:solidFill>
              <a:srgbClr val="FF4A00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  <a:tabLst/>
                <a:defRPr/>
              </a:pPr>
              <a:r>
                <a:rPr kumimoji="0" lang="en-GB" sz="140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 Medium" pitchFamily="2" charset="77"/>
                  <a:ea typeface="Arial"/>
                  <a:cs typeface="Poppins Medium" pitchFamily="2" charset="77"/>
                  <a:sym typeface="Arial"/>
                </a:rPr>
                <a:t>   Step 2 (Highlighted)</a:t>
              </a:r>
              <a:endParaRPr kumimoji="0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Arial"/>
              </a:endParaRPr>
            </a:p>
          </p:txBody>
        </p:sp>
        <p:grpSp>
          <p:nvGrpSpPr>
            <p:cNvPr id="19" name="Group 13">
              <a:extLst>
                <a:ext uri="{FF2B5EF4-FFF2-40B4-BE49-F238E27FC236}">
                  <a16:creationId xmlns:a16="http://schemas.microsoft.com/office/drawing/2014/main" id="20"/>
                </a:ext>
              </a:extLst>
            </p:cNvPr>
            <p:cNvGrpSpPr/>
            <p:nvPr/>
          </p:nvGrpSpPr>
          <p:grpSpPr>
            <a:xfrm>
              <a:off x="7685674" y="5723902"/>
              <a:ext cx="189907" cy="189907"/>
              <a:chOff x="1054098" y="3143250"/>
              <a:chExt cx="285750" cy="285750"/>
            </a:xfrm>
          </p:grpSpPr>
          <p:sp>
            <p:nvSpPr>
              <p:cNvPr id="21" name="Oval 14">
                <a:extLst>
                  <a:ext uri="{FF2B5EF4-FFF2-40B4-BE49-F238E27FC236}">
                    <a16:creationId xmlns:a16="http://schemas.microsoft.com/office/drawing/2014/main" id="22"/>
                  </a:ext>
                </a:extLst>
              </p:cNvPr>
              <p:cNvSpPr/>
              <p:nvPr/>
            </p:nvSpPr>
            <p:spPr>
              <a:xfrm>
                <a:off x="1054098" y="3143250"/>
                <a:ext cx="285750" cy="28575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15">
                <a:extLst>
                  <a:ext uri="{FF2B5EF4-FFF2-40B4-BE49-F238E27FC236}">
                    <a16:creationId xmlns:a16="http://schemas.microsoft.com/office/drawing/2014/main" id="24"/>
                  </a:ext>
                </a:extLst>
              </p:cNvPr>
              <p:cNvSpPr/>
              <p:nvPr/>
            </p:nvSpPr>
            <p:spPr>
              <a:xfrm>
                <a:off x="1127916" y="3217068"/>
                <a:ext cx="138115" cy="13811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17">
              <a:extLst>
                <a:ext uri="{FF2B5EF4-FFF2-40B4-BE49-F238E27FC236}">
                  <a16:creationId xmlns:a16="http://schemas.microsoft.com/office/drawing/2014/main" id="26"/>
                </a:ext>
              </a:extLst>
            </p:cNvPr>
            <p:cNvSpPr txBox="1"/>
            <p:nvPr/>
          </p:nvSpPr>
          <p:spPr>
            <a:xfrm>
              <a:off x="4402129" y="4049298"/>
              <a:ext cx="19600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rgbClr val="210032"/>
                  </a:solidFill>
                  <a:latin typeface="Poppins Medium" pitchFamily="2" charset="77"/>
                  <a:cs typeface="Poppins Medium" pitchFamily="2" charset="77"/>
                </a:rPr>
                <a:t>Headline In </a:t>
              </a:r>
              <a:r>
                <a:rPr lang="en-US" sz="12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Two</a:t>
              </a:r>
              <a:r>
                <a:rPr lang="en-US" sz="1200">
                  <a:solidFill>
                    <a:srgbClr val="210032"/>
                  </a:solidFill>
                  <a:latin typeface="Poppins Medium" pitchFamily="2" charset="77"/>
                  <a:cs typeface="Poppins Medium" pitchFamily="2" charset="77"/>
                </a:rPr>
                <a:t> Lines</a:t>
              </a:r>
            </a:p>
          </p:txBody>
        </p:sp>
        <p:sp>
          <p:nvSpPr>
            <p:cNvPr id="27" name="TextBox 18">
              <a:extLst>
                <a:ext uri="{FF2B5EF4-FFF2-40B4-BE49-F238E27FC236}">
                  <a16:creationId xmlns:a16="http://schemas.microsoft.com/office/drawing/2014/main" id="28"/>
                </a:ext>
              </a:extLst>
            </p:cNvPr>
            <p:cNvSpPr txBox="1"/>
            <p:nvPr/>
          </p:nvSpPr>
          <p:spPr>
            <a:xfrm>
              <a:off x="4402129" y="4283765"/>
              <a:ext cx="310833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adipiscing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elit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, sed do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dolore magna. Lorem ipsum dolor sit a,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adipiscing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.</a:t>
              </a:r>
            </a:p>
          </p:txBody>
        </p:sp>
        <p:sp>
          <p:nvSpPr>
            <p:cNvPr id="29" name="TextBox 19">
              <a:extLst>
                <a:ext uri="{FF2B5EF4-FFF2-40B4-BE49-F238E27FC236}">
                  <a16:creationId xmlns:a16="http://schemas.microsoft.com/office/drawing/2014/main" id="30"/>
                </a:ext>
              </a:extLst>
            </p:cNvPr>
            <p:cNvSpPr txBox="1"/>
            <p:nvPr/>
          </p:nvSpPr>
          <p:spPr>
            <a:xfrm>
              <a:off x="4402129" y="5012415"/>
              <a:ext cx="3108329" cy="906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32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7575" y="1883123"/>
              <a:ext cx="4190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1">
              <a:extLst>
                <a:ext uri="{FF2B5EF4-FFF2-40B4-BE49-F238E27FC236}">
                  <a16:creationId xmlns:a16="http://schemas.microsoft.com/office/drawing/2014/main" id="34"/>
                </a:ext>
              </a:extLst>
            </p:cNvPr>
            <p:cNvCxnSpPr>
              <a:cxnSpLocks/>
            </p:cNvCxnSpPr>
            <p:nvPr/>
          </p:nvCxnSpPr>
          <p:spPr>
            <a:xfrm>
              <a:off x="11426590" y="1878516"/>
              <a:ext cx="0" cy="398285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Google Shape;6381;p703">
              <a:extLst>
                <a:ext uri="{FF2B5EF4-FFF2-40B4-BE49-F238E27FC236}">
                  <a16:creationId xmlns:a16="http://schemas.microsoft.com/office/drawing/2014/main" id="36"/>
                </a:ext>
              </a:extLst>
            </p:cNvPr>
            <p:cNvSpPr/>
            <p:nvPr/>
          </p:nvSpPr>
          <p:spPr>
            <a:xfrm>
              <a:off x="8048091" y="1588345"/>
              <a:ext cx="3108342" cy="589556"/>
            </a:xfrm>
            <a:prstGeom prst="homePlate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  <a:tabLst/>
                <a:defRPr/>
              </a:pPr>
              <a:r>
                <a:rPr kumimoji="0" lang="en-GB" sz="140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Poppins Medium" pitchFamily="2" charset="77"/>
                  <a:ea typeface="Arial"/>
                  <a:cs typeface="Poppins Medium" pitchFamily="2" charset="77"/>
                  <a:sym typeface="Arial"/>
                </a:rPr>
                <a:t> Step 3 (</a:t>
              </a:r>
              <a:r>
                <a:rPr lang="en-GB" sz="1400" ker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 Medium" pitchFamily="2" charset="77"/>
                  <a:ea typeface="Arial"/>
                  <a:cs typeface="Poppins Medium" pitchFamily="2" charset="77"/>
                  <a:sym typeface="Arial"/>
                </a:rPr>
                <a:t>Un-</a:t>
              </a:r>
              <a:r>
                <a:rPr kumimoji="0" lang="en-GB" sz="140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Poppins Medium" pitchFamily="2" charset="77"/>
                  <a:ea typeface="Arial"/>
                  <a:cs typeface="Poppins Medium" pitchFamily="2" charset="77"/>
                  <a:sym typeface="Arial"/>
                </a:rPr>
                <a:t>Highlighted)</a:t>
              </a:r>
              <a:endParaRPr kumimoji="0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Arial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38"/>
                </a:ext>
              </a:extLst>
            </p:cNvPr>
            <p:cNvSpPr/>
            <p:nvPr/>
          </p:nvSpPr>
          <p:spPr>
            <a:xfrm>
              <a:off x="8048091" y="2296641"/>
              <a:ext cx="3108340" cy="1669304"/>
            </a:xfrm>
            <a:prstGeom prst="roundRect">
              <a:avLst>
                <a:gd name="adj" fmla="val 727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7">
              <a:extLst>
                <a:ext uri="{FF2B5EF4-FFF2-40B4-BE49-F238E27FC236}">
                  <a16:creationId xmlns:a16="http://schemas.microsoft.com/office/drawing/2014/main" id="40"/>
                </a:ext>
              </a:extLst>
            </p:cNvPr>
            <p:cNvSpPr txBox="1"/>
            <p:nvPr/>
          </p:nvSpPr>
          <p:spPr>
            <a:xfrm>
              <a:off x="8048091" y="4049298"/>
              <a:ext cx="19600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rgbClr val="210032"/>
                  </a:solidFill>
                  <a:latin typeface="Poppins Medium" pitchFamily="2" charset="77"/>
                  <a:cs typeface="Poppins Medium" pitchFamily="2" charset="77"/>
                </a:rPr>
                <a:t>Headline In </a:t>
              </a:r>
              <a:r>
                <a:rPr lang="en-US" sz="12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Two</a:t>
              </a:r>
              <a:r>
                <a:rPr lang="en-US" sz="1200">
                  <a:solidFill>
                    <a:srgbClr val="210032"/>
                  </a:solidFill>
                  <a:latin typeface="Poppins Medium" pitchFamily="2" charset="77"/>
                  <a:cs typeface="Poppins Medium" pitchFamily="2" charset="77"/>
                </a:rPr>
                <a:t> Lines</a:t>
              </a:r>
            </a:p>
          </p:txBody>
        </p:sp>
        <p:sp>
          <p:nvSpPr>
            <p:cNvPr id="41" name="TextBox 38">
              <a:extLst>
                <a:ext uri="{FF2B5EF4-FFF2-40B4-BE49-F238E27FC236}">
                  <a16:creationId xmlns:a16="http://schemas.microsoft.com/office/drawing/2014/main" id="42"/>
                </a:ext>
              </a:extLst>
            </p:cNvPr>
            <p:cNvSpPr txBox="1"/>
            <p:nvPr/>
          </p:nvSpPr>
          <p:spPr>
            <a:xfrm>
              <a:off x="8048091" y="4283765"/>
              <a:ext cx="310833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adipiscing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elit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, sed do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dolore magna. Lorem ipsum dolor sit a,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adipiscing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.</a:t>
              </a:r>
            </a:p>
          </p:txBody>
        </p:sp>
        <p:sp>
          <p:nvSpPr>
            <p:cNvPr id="43" name="TextBox 39">
              <a:extLst>
                <a:ext uri="{FF2B5EF4-FFF2-40B4-BE49-F238E27FC236}">
                  <a16:creationId xmlns:a16="http://schemas.microsoft.com/office/drawing/2014/main" id="44"/>
                </a:ext>
              </a:extLst>
            </p:cNvPr>
            <p:cNvSpPr txBox="1"/>
            <p:nvPr/>
          </p:nvSpPr>
          <p:spPr>
            <a:xfrm>
              <a:off x="8048091" y="5012415"/>
              <a:ext cx="3108329" cy="906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45" name="Picture 42">
              <a:extLst>
                <a:ext uri="{FF2B5EF4-FFF2-40B4-BE49-F238E27FC236}">
                  <a16:creationId xmlns:a16="http://schemas.microsoft.com/office/drawing/2014/main" id="46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78993" y="2454583"/>
              <a:ext cx="2257404" cy="1353421"/>
            </a:xfrm>
            <a:prstGeom prst="rect">
              <a:avLst/>
            </a:prstGeom>
          </p:spPr>
        </p:pic>
        <p:cxnSp>
          <p:nvCxnSpPr>
            <p:cNvPr id="47" name="Straight Connector 1">
              <a:extLst>
                <a:ext uri="{FF2B5EF4-FFF2-40B4-BE49-F238E27FC236}">
                  <a16:creationId xmlns:a16="http://schemas.microsoft.com/office/drawing/2014/main" id="48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3375" y="1883123"/>
              <a:ext cx="4190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6">
              <a:extLst>
                <a:ext uri="{FF2B5EF4-FFF2-40B4-BE49-F238E27FC236}">
                  <a16:creationId xmlns:a16="http://schemas.microsoft.com/office/drawing/2014/main" id="50"/>
                </a:ext>
              </a:extLst>
            </p:cNvPr>
            <p:cNvCxnSpPr>
              <a:cxnSpLocks/>
            </p:cNvCxnSpPr>
            <p:nvPr/>
          </p:nvCxnSpPr>
          <p:spPr>
            <a:xfrm>
              <a:off x="4157790" y="1878516"/>
              <a:ext cx="0" cy="398285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Google Shape;6381;p703">
              <a:extLst>
                <a:ext uri="{FF2B5EF4-FFF2-40B4-BE49-F238E27FC236}">
                  <a16:creationId xmlns:a16="http://schemas.microsoft.com/office/drawing/2014/main" id="52"/>
                </a:ext>
              </a:extLst>
            </p:cNvPr>
            <p:cNvSpPr/>
            <p:nvPr/>
          </p:nvSpPr>
          <p:spPr>
            <a:xfrm>
              <a:off x="753891" y="1588345"/>
              <a:ext cx="3108342" cy="589556"/>
            </a:xfrm>
            <a:prstGeom prst="homePlate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  <a:tabLst/>
                <a:defRPr/>
              </a:pPr>
              <a:r>
                <a:rPr kumimoji="0" lang="en-GB" sz="140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Poppins Medium" pitchFamily="2" charset="77"/>
                  <a:ea typeface="Arial"/>
                  <a:cs typeface="Poppins Medium" pitchFamily="2" charset="77"/>
                  <a:sym typeface="Arial"/>
                </a:rPr>
                <a:t> Step 3 (</a:t>
              </a:r>
              <a:r>
                <a:rPr lang="en-GB" sz="1400" ker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 Medium" pitchFamily="2" charset="77"/>
                  <a:ea typeface="Arial"/>
                  <a:cs typeface="Poppins Medium" pitchFamily="2" charset="77"/>
                  <a:sym typeface="Arial"/>
                </a:rPr>
                <a:t>Un-</a:t>
              </a:r>
              <a:r>
                <a:rPr kumimoji="0" lang="en-GB" sz="140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Poppins Medium" pitchFamily="2" charset="77"/>
                  <a:ea typeface="Arial"/>
                  <a:cs typeface="Poppins Medium" pitchFamily="2" charset="77"/>
                  <a:sym typeface="Arial"/>
                </a:rPr>
                <a:t>Highlighted)</a:t>
              </a:r>
              <a:endParaRPr kumimoji="0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Arial"/>
              </a:endParaRPr>
            </a:p>
          </p:txBody>
        </p:sp>
        <p:sp>
          <p:nvSpPr>
            <p:cNvPr id="53" name="Rounded Rectangle 12">
              <a:extLst>
                <a:ext uri="{FF2B5EF4-FFF2-40B4-BE49-F238E27FC236}">
                  <a16:creationId xmlns:a16="http://schemas.microsoft.com/office/drawing/2014/main" id="54"/>
                </a:ext>
              </a:extLst>
            </p:cNvPr>
            <p:cNvSpPr/>
            <p:nvPr/>
          </p:nvSpPr>
          <p:spPr>
            <a:xfrm>
              <a:off x="753891" y="2296641"/>
              <a:ext cx="3108340" cy="1669304"/>
            </a:xfrm>
            <a:prstGeom prst="roundRect">
              <a:avLst>
                <a:gd name="adj" fmla="val 727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43">
              <a:extLst>
                <a:ext uri="{FF2B5EF4-FFF2-40B4-BE49-F238E27FC236}">
                  <a16:creationId xmlns:a16="http://schemas.microsoft.com/office/drawing/2014/main" id="56"/>
                </a:ext>
              </a:extLst>
            </p:cNvPr>
            <p:cNvSpPr txBox="1"/>
            <p:nvPr/>
          </p:nvSpPr>
          <p:spPr>
            <a:xfrm>
              <a:off x="753891" y="4049298"/>
              <a:ext cx="19600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rgbClr val="210032"/>
                  </a:solidFill>
                  <a:latin typeface="Poppins Medium" pitchFamily="2" charset="77"/>
                  <a:cs typeface="Poppins Medium" pitchFamily="2" charset="77"/>
                </a:rPr>
                <a:t>Headline In </a:t>
              </a:r>
              <a:r>
                <a:rPr lang="en-US" sz="12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Two</a:t>
              </a:r>
              <a:r>
                <a:rPr lang="en-US" sz="1200">
                  <a:solidFill>
                    <a:srgbClr val="210032"/>
                  </a:solidFill>
                  <a:latin typeface="Poppins Medium" pitchFamily="2" charset="77"/>
                  <a:cs typeface="Poppins Medium" pitchFamily="2" charset="77"/>
                </a:rPr>
                <a:t> Lines</a:t>
              </a:r>
            </a:p>
          </p:txBody>
        </p:sp>
        <p:sp>
          <p:nvSpPr>
            <p:cNvPr id="57" name="TextBox 44">
              <a:extLst>
                <a:ext uri="{FF2B5EF4-FFF2-40B4-BE49-F238E27FC236}">
                  <a16:creationId xmlns:a16="http://schemas.microsoft.com/office/drawing/2014/main" id="58"/>
                </a:ext>
              </a:extLst>
            </p:cNvPr>
            <p:cNvSpPr txBox="1"/>
            <p:nvPr/>
          </p:nvSpPr>
          <p:spPr>
            <a:xfrm>
              <a:off x="753891" y="4283765"/>
              <a:ext cx="310833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adipiscing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elit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, sed do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dolore magna. Lorem ipsum dolor sit a,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0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adipiscing</a:t>
              </a:r>
              <a:r>
                <a: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.</a:t>
              </a:r>
            </a:p>
          </p:txBody>
        </p:sp>
        <p:sp>
          <p:nvSpPr>
            <p:cNvPr id="59" name="TextBox 45">
              <a:extLst>
                <a:ext uri="{FF2B5EF4-FFF2-40B4-BE49-F238E27FC236}">
                  <a16:creationId xmlns:a16="http://schemas.microsoft.com/office/drawing/2014/main" id="60"/>
                </a:ext>
              </a:extLst>
            </p:cNvPr>
            <p:cNvSpPr txBox="1"/>
            <p:nvPr/>
          </p:nvSpPr>
          <p:spPr>
            <a:xfrm>
              <a:off x="753891" y="5012415"/>
              <a:ext cx="3108329" cy="906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adipisci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adipisc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a, </a:t>
              </a:r>
              <a:r>
                <a:rPr lang="en-US" sz="9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</a:t>
              </a:r>
              <a:endPara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1" name="Picture 46">
              <a:extLst>
                <a:ext uri="{FF2B5EF4-FFF2-40B4-BE49-F238E27FC236}">
                  <a16:creationId xmlns:a16="http://schemas.microsoft.com/office/drawing/2014/main" id="62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4793" y="2454583"/>
              <a:ext cx="2257404" cy="1353421"/>
            </a:xfrm>
            <a:prstGeom prst="rect">
              <a:avLst/>
            </a:prstGeom>
          </p:spPr>
        </p:pic>
        <p:pic>
          <p:nvPicPr>
            <p:cNvPr id="63" name="Picture 47">
              <a:extLst>
                <a:ext uri="{FF2B5EF4-FFF2-40B4-BE49-F238E27FC236}">
                  <a16:creationId xmlns:a16="http://schemas.microsoft.com/office/drawing/2014/main" id="64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2198" y="2454583"/>
              <a:ext cx="2257404" cy="13534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481AEC"/>
            </a:gs>
            <a:gs pos="100000">
              <a:srgbClr val="6366F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2286000"/>
            <a:ext cx="990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FFFFFF"/>
                </a:solidFill>
                <a:latin typeface="Playfair Display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771900"/>
            <a:ext cx="990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Poppins"/>
              </a:rPr>
              <a:t>Section 04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57900"/>
            <a:ext cx="1175657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4A00"/>
            </a:gs>
            <a:gs pos="100000">
              <a:srgbClr val="481AE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2057400"/>
            <a:ext cx="990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FFFFFF"/>
                </a:solidFill>
                <a:latin typeface="Playfair Display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542700"/>
            <a:ext cx="990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Poppins"/>
              </a:rPr>
              <a:t>hello@imocha.co  |  www.imocha.co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57900"/>
            <a:ext cx="1175657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Mocha 2024">
      <a:dk1>
        <a:srgbClr val="111827"/>
      </a:dk1>
      <a:lt1>
        <a:srgbClr val="FFFFFF"/>
      </a:lt1>
      <a:dk2>
        <a:srgbClr val="481AEC"/>
      </a:dk2>
      <a:lt2>
        <a:srgbClr val="F3F4F6"/>
      </a:lt2>
      <a:accent1>
        <a:srgbClr val="FF4A00"/>
      </a:accent1>
      <a:accent2>
        <a:srgbClr val="FD5B0E"/>
      </a:accent2>
      <a:accent3>
        <a:srgbClr val="7C3AED"/>
      </a:accent3>
      <a:accent4>
        <a:srgbClr val="6366F1"/>
      </a:accent4>
      <a:accent5>
        <a:srgbClr val="EDE9FE"/>
      </a:accent5>
      <a:accent6>
        <a:srgbClr val="5B21B6"/>
      </a:accent6>
      <a:hlink>
        <a:srgbClr val="481AEC"/>
      </a:hlink>
      <a:folHlink>
        <a:srgbClr val="7C3AED"/>
      </a:folHlink>
    </a:clrScheme>
    <a:fontScheme name="iMocha Brand">
      <a:majorFont>
        <a:latin typeface="Playfair Display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