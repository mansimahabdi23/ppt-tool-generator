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943600" cy="59436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371600"/>
            <a:ext cx="3657600" cy="3657600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57200"/>
            <a:ext cx="2286000" cy="2286000"/>
          </a:xfrm>
          <a:prstGeom prst="ellipse">
            <a:avLst/>
          </a:prstGeom>
          <a:solidFill>
            <a:srgbClr val="FD5B0E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429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05156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7C3AED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051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Visibility.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Agility.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502920" y="2971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0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skills intelligence layer for smarter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0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decisions, reskilling, and transformation.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84048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D5B0E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508760" y="3867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Deck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205472" y="1078992"/>
            <a:ext cx="1280160" cy="914400"/>
          </a:xfrm>
          <a:prstGeom prst="line">
            <a:avLst/>
          </a:prstGeom>
          <a:noFill/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05472" y="1078992"/>
            <a:ext cx="-182880" cy="1645920"/>
          </a:xfrm>
          <a:prstGeom prst="line">
            <a:avLst/>
          </a:prstGeom>
          <a:noFill/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0" y="1920240"/>
            <a:ext cx="274320" cy="1097280"/>
          </a:xfrm>
          <a:prstGeom prst="line">
            <a:avLst/>
          </a:prstGeom>
          <a:noFill/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32320" y="2834640"/>
            <a:ext cx="1737360" cy="365760"/>
          </a:xfrm>
          <a:prstGeom prst="line">
            <a:avLst/>
          </a:prstGeom>
          <a:noFill/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0" y="2834640"/>
            <a:ext cx="640080" cy="1097280"/>
          </a:xfrm>
          <a:prstGeom prst="line">
            <a:avLst/>
          </a:prstGeom>
          <a:noFill/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41080" y="2971800"/>
            <a:ext cx="-1097280" cy="731520"/>
          </a:xfrm>
          <a:prstGeom prst="line">
            <a:avLst/>
          </a:prstGeom>
          <a:noFill/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07808" y="3767328"/>
            <a:ext cx="-1097280" cy="365760"/>
          </a:xfrm>
          <a:prstGeom prst="line">
            <a:avLst/>
          </a:prstGeom>
          <a:noFill/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0" y="731520"/>
            <a:ext cx="694944" cy="694944"/>
          </a:xfrm>
          <a:prstGeom prst="ellipse">
            <a:avLst/>
          </a:prstGeom>
          <a:solidFill>
            <a:srgbClr val="FD5B0E">
              <a:alpha val="7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138160" y="1645920"/>
            <a:ext cx="548640" cy="548640"/>
          </a:xfrm>
          <a:prstGeom prst="ellipse">
            <a:avLst/>
          </a:prstGeom>
          <a:solidFill>
            <a:srgbClr val="6366F1">
              <a:alpha val="7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675120" y="2377440"/>
            <a:ext cx="914400" cy="914400"/>
          </a:xfrm>
          <a:prstGeom prst="ellipse">
            <a:avLst/>
          </a:prstGeom>
          <a:solidFill>
            <a:srgbClr val="7C3AED">
              <a:alpha val="7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412480" y="2743200"/>
            <a:ext cx="457200" cy="457200"/>
          </a:xfrm>
          <a:prstGeom prst="ellipse">
            <a:avLst/>
          </a:prstGeom>
          <a:solidFill>
            <a:srgbClr val="FD5B0E">
              <a:alpha val="7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315200" y="3474720"/>
            <a:ext cx="585216" cy="585216"/>
          </a:xfrm>
          <a:prstGeom prst="ellipse">
            <a:avLst/>
          </a:prstGeom>
          <a:solidFill>
            <a:srgbClr val="6366F1">
              <a:alpha val="7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217920" y="3840480"/>
            <a:ext cx="402336" cy="402336"/>
          </a:xfrm>
          <a:prstGeom prst="ellipse">
            <a:avLst/>
          </a:prstGeom>
          <a:solidFill>
            <a:srgbClr val="7C3AED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Workforce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 Challenge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skills intelligence is now mission-critical.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663440"/>
            <a:ext cx="128016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Workforce Transformation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face a critical convergence of skills, data, and AI disruption.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4572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15568"/>
            <a:ext cx="4160520" cy="1664208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73152" cy="1664208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1280160"/>
            <a:ext cx="420624" cy="420624"/>
          </a:xfrm>
          <a:prstGeom prst="ellipse">
            <a:avLst/>
          </a:prstGeom>
          <a:solidFill>
            <a:srgbClr val="FD5B0E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1298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Skills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70992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data scattered across disconnected HRMS, LMS, and talent systems. No single source of truth.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60520" cy="1664208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15568"/>
            <a:ext cx="73152" cy="16642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4873752" y="1280160"/>
            <a:ext cx="420624" cy="420624"/>
          </a:xfrm>
          <a:prstGeom prst="ellipse">
            <a:avLst/>
          </a:prstGeom>
          <a:solidFill>
            <a:srgbClr val="6366F1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22392" y="1298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Planning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170992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workforce planning is static. Leaders can't respond to AI-driven skill shifts in real time.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60520" cy="1664208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73152" cy="16642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30352" y="3136392"/>
            <a:ext cx="420624" cy="420624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" y="31546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Skill Gaps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35661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disruption accelerates skill obsolescence faster than organizations can retrain or rehire.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971800"/>
            <a:ext cx="4160520" cy="1664208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71800"/>
            <a:ext cx="73152" cy="166420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5" name="Shape 23"/>
          <p:cNvSpPr/>
          <p:nvPr/>
        </p:nvSpPr>
        <p:spPr>
          <a:xfrm>
            <a:off x="4873752" y="3136392"/>
            <a:ext cx="420624" cy="420624"/>
          </a:xfrm>
          <a:prstGeom prst="ellipse">
            <a:avLst/>
          </a:prstGeom>
          <a:solidFill>
            <a:srgbClr val="5B21B6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22392" y="31546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Career Visibility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35661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lack insight into their growth opportunities, leading to disengagement and attrition.</a:t>
            </a:r>
            <a:endParaRPr lang="en-US" sz="10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00600"/>
            <a:ext cx="822960" cy="19202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11480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95528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imocha.io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Skills Intelligence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Matters Now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the new enterprise currency.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663440"/>
            <a:ext cx="128016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Skills Intelligence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strategic reasons skills-first intelligence is now a business imperative.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5" name="Shape 3"/>
          <p:cNvSpPr/>
          <p:nvPr/>
        </p:nvSpPr>
        <p:spPr>
          <a:xfrm>
            <a:off x="3977640" y="2286000"/>
            <a:ext cx="1188720" cy="11887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977640" y="24688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62960" y="2589400"/>
            <a:ext cx="711236" cy="-711236"/>
          </a:xfrm>
          <a:prstGeom prst="line">
            <a:avLst/>
          </a:prstGeom>
          <a:noFill/>
          <a:ln w="25400">
            <a:solidFill>
              <a:srgbClr val="FD5B0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4157" y="1558123"/>
            <a:ext cx="640080" cy="640080"/>
          </a:xfrm>
          <a:prstGeom prst="ellipse">
            <a:avLst/>
          </a:prstGeom>
          <a:solidFill>
            <a:srgbClr val="FD5B0E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254157" y="1649563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39957" y="1676995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the new currency of competitive advantage.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62960" y="3171320"/>
            <a:ext cx="711236" cy="711236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4157" y="3562517"/>
            <a:ext cx="640080" cy="640080"/>
          </a:xfrm>
          <a:prstGeom prst="ellipse">
            <a:avLst/>
          </a:prstGeom>
          <a:solidFill>
            <a:srgbClr val="6366F1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254157" y="3653957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39957" y="3681389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skill visibility enables rapid workforce pivots.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81040" y="3171320"/>
            <a:ext cx="-711236" cy="71123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9763" y="3562517"/>
            <a:ext cx="640080" cy="640080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49763" y="3653957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95283" y="3681389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reskilling strategies counter AI disruption.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81040" y="2589400"/>
            <a:ext cx="-711236" cy="-711236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9763" y="1558123"/>
            <a:ext cx="640080" cy="640080"/>
          </a:xfrm>
          <a:prstGeom prst="ellipse">
            <a:avLst/>
          </a:prstGeom>
          <a:solidFill>
            <a:srgbClr val="5B21B6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49763" y="1649563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695283" y="1676995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Analytics-powered decisions improve business outcomes.</a:t>
            </a:r>
            <a:endParaRPr lang="en-US" sz="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00600"/>
            <a:ext cx="822960" cy="19202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11480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95528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imocha.io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iMocha AI Skills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Platform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platform. Total skills clarity.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663440"/>
            <a:ext cx="128016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the iMocha AI Skills Intelligence Platform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AI-native platform for skill discovery, validation, and strategic workforce planning.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9786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3560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· LMS · ATS · Talent Platforms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39328" y="123444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1801368"/>
            <a:ext cx="8010144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856232"/>
            <a:ext cx="4405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&amp; Intelligence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093976"/>
            <a:ext cx="7644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Inference · Inference Hub · Conversational 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0" y="189280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6656" y="2459736"/>
            <a:ext cx="7790688" cy="54864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2514600"/>
            <a:ext cx="4284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Governance &amp; 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2752344"/>
            <a:ext cx="7424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Control · Audit Trails · Enterprise Trust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119872" y="255117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6384" y="3118104"/>
            <a:ext cx="7571232" cy="5486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" y="3172968"/>
            <a:ext cx="4164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Planning &amp; Insights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9264" y="3410712"/>
            <a:ext cx="7205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· Reskilling · Succession Planning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10144" y="320954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6112" y="3776472"/>
            <a:ext cx="7351776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3831336"/>
            <a:ext cx="40434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Manager Experience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4069080"/>
            <a:ext cx="6986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 · Learning Plans · Benchmarking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00416" y="386791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00600"/>
            <a:ext cx="822960" cy="19202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1480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5528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imocha.io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AI Capabilities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AI-powered modules driving workforce intelligence.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663440"/>
            <a:ext cx="128016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AI Capabilities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AI-powered modules that form the iMocha intelligence engine.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2743200" cy="15087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384048" cy="329184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430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1795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Inference 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65506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infer and map skills from work history, job roles, and assessments—no manual input required.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15087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384048" cy="329184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1430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11795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Career Assistant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5848" y="165506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employees through personalized career path discovery via intelligent dialogue and real-time coaching.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143000"/>
            <a:ext cx="2743200" cy="15087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43000"/>
            <a:ext cx="384048" cy="329184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1430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11795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 Profile Creation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81928" y="165506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rich, standards-aligned role profiles using AI, validated against market benchmarks.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743200" cy="15087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34640"/>
            <a:ext cx="384048" cy="329184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8346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87121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Skill Gap 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" y="334670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visualize capability gaps vs. business role requirements with precision and speed.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743200" cy="15087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34640"/>
            <a:ext cx="384048" cy="329184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8346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03320" y="287121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Recommendations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55848" y="334670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AI-curated learning pathways aligned to individual skill gaps, roles, and career aspirations.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834640"/>
            <a:ext cx="2743200" cy="15087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834640"/>
            <a:ext cx="384048" cy="329184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8346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287121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Planning Intelligence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81928" y="334670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insights for leadership to forecast needs, optimize talent supply, and reduce hiring dependency.</a:t>
            </a:r>
            <a:endParaRPr lang="en-US" sz="9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00600"/>
            <a:ext cx="822960" cy="19202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11480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95528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imocha.io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Gap Intelligence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Workforce Insights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gaps. Build a future-ready workforce.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663440"/>
            <a:ext cx="128016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Gap Intelligence &amp; Workforce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 — identify, bridge, and track skills at enterprise scale.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80160"/>
            <a:ext cx="475488" cy="475488"/>
          </a:xfrm>
          <a:prstGeom prst="ellipse">
            <a:avLst/>
          </a:prstGeom>
          <a:solidFill>
            <a:srgbClr val="FD5B0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" y="1764792"/>
            <a:ext cx="0" cy="667512"/>
          </a:xfrm>
          <a:prstGeom prst="line">
            <a:avLst/>
          </a:prstGeom>
          <a:noFill/>
          <a:ln w="25400">
            <a:solidFill>
              <a:srgbClr val="FD5B0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24128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Live Skill Profiles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727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+ assessments + LMS/LXP integrations create dynamic, always-current employee skill profiles.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423160"/>
            <a:ext cx="475488" cy="475488"/>
          </a:xfrm>
          <a:prstGeom prst="ellipse">
            <a:avLst/>
          </a:prstGeom>
          <a:solidFill>
            <a:srgbClr val="FD5B0E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" y="2907792"/>
            <a:ext cx="0" cy="667512"/>
          </a:xfrm>
          <a:prstGeom prst="line">
            <a:avLst/>
          </a:prstGeom>
          <a:noFill/>
          <a:ln w="25400">
            <a:solidFill>
              <a:srgbClr val="FD5B0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024128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 vs. Business Needs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7157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dashboards compare employee capabilities against role requirements and market benchmarks.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475488" cy="475488"/>
          </a:xfrm>
          <a:prstGeom prst="ellipse">
            <a:avLst/>
          </a:prstGeom>
          <a:solidFill>
            <a:srgbClr val="FD5B0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Aggregated Intelligence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8587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team-level data reveals strengths and gaps for smarter reskilling, succession, and optimization.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Gap Snapshot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15544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0" y="1773936"/>
            <a:ext cx="3291840" cy="1828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66176" y="1755648"/>
            <a:ext cx="0" cy="228600"/>
          </a:xfrm>
          <a:prstGeom prst="line">
            <a:avLst/>
          </a:prstGeom>
          <a:noFill/>
          <a:ln w="25400">
            <a:solidFill>
              <a:srgbClr val="FD5B0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1773936"/>
            <a:ext cx="2370125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7719365" y="177393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03520" y="23042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ML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03520" y="2523744"/>
            <a:ext cx="3291840" cy="1828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8101584" y="2505456"/>
            <a:ext cx="0" cy="228600"/>
          </a:xfrm>
          <a:prstGeom prst="line">
            <a:avLst/>
          </a:prstGeom>
          <a:noFill/>
          <a:ln w="25400">
            <a:solidFill>
              <a:srgbClr val="FD5B0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2523744"/>
            <a:ext cx="1810512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7159752" y="25237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03520" y="30540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03520" y="3273552"/>
            <a:ext cx="3291840" cy="1828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30"/>
          <p:cNvSpPr/>
          <p:nvPr/>
        </p:nvSpPr>
        <p:spPr>
          <a:xfrm>
            <a:off x="8200339" y="3255264"/>
            <a:ext cx="0" cy="228600"/>
          </a:xfrm>
          <a:prstGeom prst="line">
            <a:avLst/>
          </a:prstGeom>
          <a:noFill/>
          <a:ln w="25400">
            <a:solidFill>
              <a:srgbClr val="FD5B0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0" y="3273552"/>
            <a:ext cx="2633472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7982712" y="32735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03520" y="38039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Leadership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03520" y="4023360"/>
            <a:ext cx="3291840" cy="1828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35"/>
          <p:cNvSpPr/>
          <p:nvPr/>
        </p:nvSpPr>
        <p:spPr>
          <a:xfrm>
            <a:off x="7936992" y="4005072"/>
            <a:ext cx="0" cy="228600"/>
          </a:xfrm>
          <a:prstGeom prst="line">
            <a:avLst/>
          </a:prstGeom>
          <a:noFill/>
          <a:ln w="25400">
            <a:solidFill>
              <a:srgbClr val="FD5B0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0" y="4023360"/>
            <a:ext cx="2139696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7488936" y="4023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03520" y="4572000"/>
            <a:ext cx="2286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577840" y="455371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0" y="4626864"/>
            <a:ext cx="0" cy="109728"/>
          </a:xfrm>
          <a:prstGeom prst="line">
            <a:avLst/>
          </a:prstGeom>
          <a:noFill/>
          <a:ln w="25400">
            <a:solidFill>
              <a:srgbClr val="FD5B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455371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00600"/>
            <a:ext cx="822960" cy="192024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411480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95528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imocha.io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Governance,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Transparency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you can trust and audit.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663440"/>
            <a:ext cx="128016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Governance, Trust &amp; Transparency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enterprise audit-readiness, fairness, and explainability.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4572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1556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 AI Vision → AI that understands skills, powers careers, and prepares organizations for the future of work.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265176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00200"/>
            <a:ext cx="2651760" cy="41148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161848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Skills from the Source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20574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Employee-Confirmed · Governed · Auditable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21208" y="2350008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review and confirm inferred skills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2953512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governance workflows ensure accuracy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" y="3557016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eliminate unverified assumptions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600200"/>
            <a:ext cx="265176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600200"/>
            <a:ext cx="26517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328416" y="161848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&amp; Controlled by Business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28416" y="20574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Demand-Driven · Standardized · Consistent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28416" y="2350008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approves role and competency requirements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28416" y="2953512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taxonomy prevents duplication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28416" y="3557016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enterprise-grade demand signal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25896" y="1600200"/>
            <a:ext cx="265176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600200"/>
            <a:ext cx="265176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135624" y="161848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Deterministic &amp; Fair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35624" y="20574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· Bias-Free · Audit-Ready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35624" y="2350008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GenAI-powered, logic-based transparent matching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35624" y="2953512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levels for every recommendation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35624" y="3557016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bias-controlled decisions at scale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4663440"/>
            <a:ext cx="1298448" cy="246888"/>
          </a:xfrm>
          <a:prstGeom prst="roundRect">
            <a:avLst>
              <a:gd name="adj" fmla="val 14815"/>
            </a:avLst>
          </a:prstGeom>
          <a:solidFill>
            <a:srgbClr val="EDE9FE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663440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15084" y="4663440"/>
            <a:ext cx="1298448" cy="246888"/>
          </a:xfrm>
          <a:prstGeom prst="roundRect">
            <a:avLst>
              <a:gd name="adj" fmla="val 14815"/>
            </a:avLst>
          </a:prstGeom>
          <a:solidFill>
            <a:srgbClr val="EDE9FE"/>
          </a:solidFill>
          <a:ln/>
        </p:spPr>
      </p:sp>
      <p:sp>
        <p:nvSpPr>
          <p:cNvPr id="31" name="Text 29"/>
          <p:cNvSpPr/>
          <p:nvPr/>
        </p:nvSpPr>
        <p:spPr>
          <a:xfrm>
            <a:off x="1815084" y="4663440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18688" y="4663440"/>
            <a:ext cx="1298448" cy="246888"/>
          </a:xfrm>
          <a:prstGeom prst="roundRect">
            <a:avLst>
              <a:gd name="adj" fmla="val 14815"/>
            </a:avLst>
          </a:prstGeom>
          <a:solidFill>
            <a:srgbClr val="EDE9FE"/>
          </a:solidFill>
          <a:ln/>
        </p:spPr>
      </p:sp>
      <p:sp>
        <p:nvSpPr>
          <p:cNvPr id="33" name="Text 31"/>
          <p:cNvSpPr/>
          <p:nvPr/>
        </p:nvSpPr>
        <p:spPr>
          <a:xfrm>
            <a:off x="3218688" y="4663440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Inclusiveness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22292" y="4663440"/>
            <a:ext cx="1298448" cy="246888"/>
          </a:xfrm>
          <a:prstGeom prst="roundRect">
            <a:avLst>
              <a:gd name="adj" fmla="val 14815"/>
            </a:avLst>
          </a:prstGeom>
          <a:solidFill>
            <a:srgbClr val="EDE9FE"/>
          </a:solidFill>
          <a:ln/>
        </p:spPr>
      </p:sp>
      <p:sp>
        <p:nvSpPr>
          <p:cNvPr id="35" name="Text 33"/>
          <p:cNvSpPr/>
          <p:nvPr/>
        </p:nvSpPr>
        <p:spPr>
          <a:xfrm>
            <a:off x="4622292" y="4663440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25896" y="4663440"/>
            <a:ext cx="1298448" cy="246888"/>
          </a:xfrm>
          <a:prstGeom prst="roundRect">
            <a:avLst>
              <a:gd name="adj" fmla="val 14815"/>
            </a:avLst>
          </a:prstGeom>
          <a:solidFill>
            <a:srgbClr val="EDE9FE"/>
          </a:solidFill>
          <a:ln/>
        </p:spPr>
      </p:sp>
      <p:sp>
        <p:nvSpPr>
          <p:cNvPr id="37" name="Text 35"/>
          <p:cNvSpPr/>
          <p:nvPr/>
        </p:nvSpPr>
        <p:spPr>
          <a:xfrm>
            <a:off x="6025896" y="4663440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Safety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429500" y="4663440"/>
            <a:ext cx="1298448" cy="246888"/>
          </a:xfrm>
          <a:prstGeom prst="roundRect">
            <a:avLst>
              <a:gd name="adj" fmla="val 14815"/>
            </a:avLst>
          </a:prstGeom>
          <a:solidFill>
            <a:srgbClr val="EDE9FE"/>
          </a:solidFill>
          <a:ln/>
        </p:spPr>
      </p:sp>
      <p:sp>
        <p:nvSpPr>
          <p:cNvPr id="39" name="Text 37"/>
          <p:cNvSpPr/>
          <p:nvPr/>
        </p:nvSpPr>
        <p:spPr>
          <a:xfrm>
            <a:off x="7429500" y="4663440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7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00600"/>
            <a:ext cx="822960" cy="19202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11480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95528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imocha.io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Integration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every HR system into a unified intelligence layer.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663440"/>
            <a:ext cx="128016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Integration Ecosystem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API-driven connectivity that eliminates data silos and unifies the talent landscape.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4572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5" name="Shape 3"/>
          <p:cNvSpPr/>
          <p:nvPr/>
        </p:nvSpPr>
        <p:spPr>
          <a:xfrm>
            <a:off x="3767328" y="2029968"/>
            <a:ext cx="1609344" cy="16093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767328" y="23317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26160" y="2164771"/>
            <a:ext cx="-118802" cy="-569143"/>
          </a:xfrm>
          <a:prstGeom prst="line">
            <a:avLst/>
          </a:prstGeom>
          <a:noFill/>
          <a:ln w="19050">
            <a:solidFill>
              <a:srgbClr val="FD5B0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1170432"/>
            <a:ext cx="14173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44368" y="1170432"/>
            <a:ext cx="1417320" cy="4572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234440"/>
            <a:ext cx="1307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48132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· SAP · Oracle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230997" y="2372883"/>
            <a:ext cx="957205" cy="-777255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33872" y="1170432"/>
            <a:ext cx="14173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33872" y="1170432"/>
            <a:ext cx="141732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5907024" y="1234440"/>
            <a:ext cx="1307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/ LXP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07024" y="148132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Degreed · Coursera · Udemy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76519" y="2850338"/>
            <a:ext cx="1652931" cy="-102566"/>
          </a:xfrm>
          <a:prstGeom prst="line">
            <a:avLst/>
          </a:prstGeom>
          <a:noFill/>
          <a:ln w="19050">
            <a:solidFill>
              <a:srgbClr val="5B21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606040"/>
            <a:ext cx="14173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2606040"/>
            <a:ext cx="1417320" cy="457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0" name="Text 18"/>
          <p:cNvSpPr/>
          <p:nvPr/>
        </p:nvSpPr>
        <p:spPr>
          <a:xfrm>
            <a:off x="6748272" y="2670048"/>
            <a:ext cx="1307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48272" y="291693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· Lever · iCIMS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190572" y="3349292"/>
            <a:ext cx="741598" cy="77008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3977640"/>
            <a:ext cx="14173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3977640"/>
            <a:ext cx="141732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650992" y="4041648"/>
            <a:ext cx="1307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Intelligence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50992" y="428853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· Eightfold · Gloat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983156" y="3383056"/>
            <a:ext cx="-588446" cy="736316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3977640"/>
            <a:ext cx="14173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31720" y="3977640"/>
            <a:ext cx="141732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2404872" y="4041648"/>
            <a:ext cx="1307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04872" y="428853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· Slack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767538" y="2853028"/>
            <a:ext cx="-1241508" cy="-105256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3040" y="2606040"/>
            <a:ext cx="14173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463040" y="2606040"/>
            <a:ext cx="14173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1536192" y="2670048"/>
            <a:ext cx="1307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36192" y="291693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Tableau · Visier</a:t>
            </a:r>
            <a:endParaRPr lang="en-US" sz="75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00600"/>
            <a:ext cx="822960" cy="19202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411480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95528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imocha.io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 &amp;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Outcomes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iMocha delivers to your bottom line.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663440"/>
            <a:ext cx="128016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 &amp; Enterprise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 delivers measurable value across every stakeholder in the organization.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1097280" cy="4572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70432"/>
            <a:ext cx="26060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2606040" cy="64008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Employee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591056"/>
            <a:ext cx="2377440" cy="237744"/>
          </a:xfrm>
          <a:prstGeom prst="roundRect">
            <a:avLst>
              <a:gd name="adj" fmla="val 19231"/>
            </a:avLst>
          </a:prstGeom>
          <a:solidFill>
            <a:srgbClr val="FD5B0E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5910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Career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Engagement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249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Happiness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Promotion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170432"/>
            <a:ext cx="26060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170432"/>
            <a:ext cx="260604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3264408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Manager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4408" y="1591056"/>
            <a:ext cx="2377440" cy="237744"/>
          </a:xfrm>
          <a:prstGeom prst="roundRect">
            <a:avLst>
              <a:gd name="adj" fmla="val 19231"/>
            </a:avLst>
          </a:prstGeom>
          <a:solidFill>
            <a:srgbClr val="6366F1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64408" y="15910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Optimization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Project profitability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2249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Client relationships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1170432"/>
            <a:ext cx="26060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1170432"/>
            <a:ext cx="260604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053328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L&amp;D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53328" y="1591056"/>
            <a:ext cx="2377440" cy="237744"/>
          </a:xfrm>
          <a:prstGeom prst="roundRect">
            <a:avLst>
              <a:gd name="adj" fmla="val 19231"/>
            </a:avLst>
          </a:prstGeom>
          <a:solidFill>
            <a:srgbClr val="7C3AED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53328" y="15910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53328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Revenue &amp; billability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53328" y="2249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Training costs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26060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017520"/>
            <a:ext cx="260604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3127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Recruitment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" y="3438144"/>
            <a:ext cx="2377440" cy="237744"/>
          </a:xfrm>
          <a:prstGeom prst="roundRect">
            <a:avLst>
              <a:gd name="adj" fmla="val 19231"/>
            </a:avLst>
          </a:prstGeom>
          <a:solidFill>
            <a:srgbClr val="059669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34381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Quality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37673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Time to hire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" y="4096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Offer-to-join ratio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54680" y="3017520"/>
            <a:ext cx="26060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3017520"/>
            <a:ext cx="260604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3264408" y="3127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WFM/RMG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64408" y="3438144"/>
            <a:ext cx="2377440" cy="237744"/>
          </a:xfrm>
          <a:prstGeom prst="roundRect">
            <a:avLst>
              <a:gd name="adj" fmla="val 19231"/>
            </a:avLst>
          </a:prstGeom>
          <a:solidFill>
            <a:srgbClr val="D97706">
              <a:alpha val="9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264408" y="34381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Effectiveness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64408" y="37673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Staffing cycle time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64408" y="4096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Deal win rates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3017520"/>
            <a:ext cx="26060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0" y="3017520"/>
            <a:ext cx="2606040" cy="6400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43" name="Text 41"/>
          <p:cNvSpPr/>
          <p:nvPr/>
        </p:nvSpPr>
        <p:spPr>
          <a:xfrm>
            <a:off x="6053328" y="3127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CHRO / CEO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53328" y="3438144"/>
            <a:ext cx="2377440" cy="237744"/>
          </a:xfrm>
          <a:prstGeom prst="roundRect">
            <a:avLst>
              <a:gd name="adj" fmla="val 19231"/>
            </a:avLst>
          </a:prstGeom>
          <a:solidFill>
            <a:srgbClr val="5B21B6">
              <a:alpha val="9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053328" y="34381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Agility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53328" y="37673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Org transformation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53328" y="4096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Data-driven decisions</a:t>
            </a:r>
            <a:endParaRPr lang="en-US" sz="10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00600"/>
            <a:ext cx="822960" cy="192024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411480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95528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imocha.io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iMocha's AI-First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intelligence-led transformation.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663440"/>
            <a:ext cx="1280160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iMocha's AI-First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AI modules forming the iMocha intelligence stack.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097280" cy="4572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887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1920240" cy="91440"/>
          </a:xfrm>
          <a:prstGeom prst="rect">
            <a:avLst/>
          </a:prstGeom>
          <a:solidFill>
            <a:srgbClr val="FD5B0E"/>
          </a:solidFill>
          <a:ln/>
        </p:spPr>
      </p:sp>
      <p:sp>
        <p:nvSpPr>
          <p:cNvPr id="7" name="Text 5"/>
          <p:cNvSpPr/>
          <p:nvPr/>
        </p:nvSpPr>
        <p:spPr>
          <a:xfrm>
            <a:off x="194767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5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481328"/>
            <a:ext cx="713232" cy="713232"/>
          </a:xfrm>
          <a:prstGeom prst="ellipse">
            <a:avLst/>
          </a:prstGeom>
          <a:solidFill>
            <a:srgbClr val="FD5B0E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Hub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1887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1188720"/>
            <a:ext cx="192024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00507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71800" y="1481328"/>
            <a:ext cx="713232" cy="713232"/>
          </a:xfrm>
          <a:prstGeom prst="ellipse">
            <a:avLst/>
          </a:prstGeom>
          <a:solidFill>
            <a:srgbClr val="6366F1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16002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— Tara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34840" y="11887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4840" y="1188720"/>
            <a:ext cx="19202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06247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1481328"/>
            <a:ext cx="713232" cy="713232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6002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Solutions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11887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1188720"/>
            <a:ext cx="19202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87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86600" y="1481328"/>
            <a:ext cx="713232" cy="713232"/>
          </a:xfrm>
          <a:prstGeom prst="ellipse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16002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0175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017520"/>
            <a:ext cx="192024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1947672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4400" y="3310128"/>
            <a:ext cx="713232" cy="713232"/>
          </a:xfrm>
          <a:prstGeom prst="ellipse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34290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" y="41148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Creation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77440" y="30175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2377440" y="3017520"/>
            <a:ext cx="1920240" cy="914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7" name="Text 35"/>
          <p:cNvSpPr/>
          <p:nvPr/>
        </p:nvSpPr>
        <p:spPr>
          <a:xfrm>
            <a:off x="4005072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71800" y="3310128"/>
            <a:ext cx="713232" cy="713232"/>
          </a:xfrm>
          <a:prstGeom prst="ellipse">
            <a:avLst/>
          </a:prstGeom>
          <a:solidFill>
            <a:srgbClr val="5B21B6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971800" y="34290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468880" y="41148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Rubric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34840" y="30175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4434840" y="3017520"/>
            <a:ext cx="192024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6062472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0" y="3310128"/>
            <a:ext cx="713232" cy="713232"/>
          </a:xfrm>
          <a:prstGeom prst="ellipse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4290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26280" y="41148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Learning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92240" y="3017520"/>
            <a:ext cx="192024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Shape 46"/>
          <p:cNvSpPr/>
          <p:nvPr/>
        </p:nvSpPr>
        <p:spPr>
          <a:xfrm>
            <a:off x="6492240" y="3017520"/>
            <a:ext cx="192024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8119872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086600" y="3310128"/>
            <a:ext cx="713232" cy="713232"/>
          </a:xfrm>
          <a:prstGeom prst="ellipse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086600" y="34290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583680" y="41148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Inference</a:t>
            </a:r>
            <a:endParaRPr lang="en-US" sz="9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00600"/>
            <a:ext cx="822960" cy="192024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411480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955280" y="4828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imocha.io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FD5B0E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457200"/>
            <a:ext cx="2286000" cy="2286000"/>
          </a:xfrm>
          <a:prstGeom prst="ellipse">
            <a:avLst/>
          </a:prstGeom>
          <a:solidFill>
            <a:srgbClr val="6366F1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D5B0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463040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18872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Workforce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Tomorrow — Today.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0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 helps enterprises transform skills into strategy.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0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gap analysis to AI inference — all in one platform.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749040"/>
            <a:ext cx="2194560" cy="365760"/>
          </a:xfrm>
          <a:prstGeom prst="roundRect">
            <a:avLst>
              <a:gd name="adj" fmla="val 17500"/>
            </a:avLst>
          </a:prstGeom>
          <a:solidFill>
            <a:srgbClr val="FD5B0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Demo →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4251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imocha.io  |  Skills Visibility. Business Agility.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iMocha AI Skills Intelligence Platform</dc:title>
  <dc:subject>PptxGenJS Presentation</dc:subject>
  <dc:creator>PptxGenJS</dc:creator>
  <cp:lastModifiedBy>PptxGenJS</cp:lastModifiedBy>
  <cp:revision>1</cp:revision>
  <dcterms:created xsi:type="dcterms:W3CDTF">2026-05-19T19:40:14Z</dcterms:created>
  <dcterms:modified xsi:type="dcterms:W3CDTF">2026-05-19T19:40:14Z</dcterms:modified>
</cp:coreProperties>
</file>