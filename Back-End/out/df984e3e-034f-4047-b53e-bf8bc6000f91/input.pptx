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6" r:id="rId3"/>
  </p:sldMasterIdLst>
  <p:notesMasterIdLst>
    <p:notesMasterId r:id="rId12"/>
  </p:notesMasterIdLst>
  <p:sldIdLst>
    <p:sldId id="2147483545" r:id="rId4"/>
    <p:sldId id="2146847038" r:id="rId5"/>
    <p:sldId id="298" r:id="rId6"/>
    <p:sldId id="2147483546" r:id="rId7"/>
    <p:sldId id="301" r:id="rId8"/>
    <p:sldId id="2147483576" r:id="rId9"/>
    <p:sldId id="2147478010" r:id="rId10"/>
    <p:sldId id="21474833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>
      <p:cViewPr varScale="1">
        <p:scale>
          <a:sx n="94" d="100"/>
          <a:sy n="9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4CB4F-1A17-0E4A-BD32-024B3F44D60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262DA-72E8-1044-A6EE-701FC0602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1FAF-B5B7-A17C-06F8-2F1F4213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5A69B-EF6E-E6CE-7EAC-62318299F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B789E-F637-3638-D496-B7940663B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6914D-97CA-6447-282E-D46AE0C6C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97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0F598-6908-2D5A-CD42-B405D2FA7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8ABAC-3ECB-2F7E-2BC1-0F1E38E786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b="1">
                <a:solidFill>
                  <a:srgbClr val="595959"/>
                </a:solidFill>
                <a:latin typeface="Calibri"/>
              </a:rPr>
              <a:t>Integration: </a:t>
            </a:r>
            <a:r>
              <a:rPr lang="en-IN" b="1"/>
              <a:t>The Missing Link in Your Skills Tech Stack</a:t>
            </a:r>
            <a:r>
              <a:rPr lang="en-IN"/>
              <a:t/>
            </a:r>
            <a:br>
              <a:rPr lang="en-IN"/>
            </a:br>
            <a:r>
              <a:rPr lang="en-IN"/>
              <a:t>Even the most advanced HR tech ecosystems fall short without one crucial layer: real-time, validated skills intelligence. That’s where iMocha completes the picture.</a:t>
            </a:r>
          </a:p>
          <a:p>
            <a:pPr lvl="0"/>
            <a:r>
              <a:rPr lang="en-IN"/>
              <a:t> </a:t>
            </a:r>
          </a:p>
          <a:p>
            <a:pPr lvl="0"/>
            <a:endParaRPr lang="ru-RU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AC8B1-35D1-DDC6-7740-70A116976F9F}"/>
              </a:ext>
            </a:extLst>
          </p:cNvPr>
          <p:cNvSpPr txBox="1"/>
          <p:nvPr/>
        </p:nvSpPr>
        <p:spPr>
          <a:xfrm>
            <a:off x="3970933" y="8829962"/>
            <a:ext cx="3037840" cy="466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3177" tIns="46589" rIns="93177" bIns="46589" anchor="b" anchorCtr="0" compatLnSpc="1">
            <a:noAutofit/>
          </a:bodyPr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49682BD-44FC-43C1-91BD-8C0AEE76980A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287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4C8D78-5C52-4640-927A-AEF72964BD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737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20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DD20-4638-5634-E3CB-E6B2BFD40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B519D-B716-5D87-D87E-CEC10F5D1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94D7-5959-E3F4-60D7-A7D5477F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55A98-0022-9E9C-333A-0684C74B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032C-A108-1C2C-7782-90EE11F2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6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221C-B914-8F24-A8D0-F6454D10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B30F-67F6-E5B7-2744-EA32EB86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C7012-5FA1-A74B-316F-49912759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320A-B1C6-2F06-3F7F-2AE72AD6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DFD28-8CB2-6E94-F1CD-9AC175A2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6C6C-D208-EBC7-277C-E28923FD0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911DD-94D9-D90F-48AD-234C08CEB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85940-5ED9-F8AD-43B3-24288CD6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3836-3479-7181-A14B-D98A242C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EC50C-F589-DF4A-4419-D73464E0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B2EC-8BD9-3B99-1D76-D5A2398D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0E70-582C-7747-8914-5E52FD510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A4CF3-7AD7-F95E-2046-0EBADB971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CA63E-E897-6633-4EED-E33A58DE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040A4-E35B-7686-A7F8-2A03E727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7E879-0605-5508-7294-6A986511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7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99D7-2830-BD13-112F-682EC7D2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095D0-A535-CF05-06A7-7910221B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CD744-94F3-00D0-02B4-A5C917C63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30E55-3FAD-5B29-B0AD-D44AD6FB6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F8625-8985-8BEE-E6E1-021078A7E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A60183-2487-C981-5A40-373A1DEDB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8AA1F-776B-6E37-0F4A-BCAFAF45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A864A-D5B5-C30A-20C7-7B60F313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42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384F-1E6F-E280-EBBA-BA3760FF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7EA29-F960-E659-FC97-64140E0A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ED244-27EC-AE83-56A8-2F5A7659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3A198-393F-64C4-6E6C-ACD2DD33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2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F9623-AD4B-B9BD-46DE-4225FA5F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F27D3-8FCA-52E6-2329-12F5032D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3936F-4A5B-2F3F-7BBD-E18E930E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4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33B7-F450-2E78-6872-9A2D5994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B84C5-FA8D-8816-2D6E-2A187569E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C98DE-F850-1600-437A-316E6294C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503EA-8771-EF39-2328-4EE34A6F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2519F-A0E5-4A33-AFF3-46512EA8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9264-B66E-FB3E-C432-287F6F7E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1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481E-595A-9266-58E7-B1445FDE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8E6C2-C8E8-E8B5-2700-11A9A5689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5A0BA-A253-9035-341F-183E70389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730B0-F6E0-1A9F-2E7F-99307938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B4E1B-E824-692B-1BD2-2975CA34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7B713-326A-A3FA-AA6D-419D7FDA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2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62A7-78F5-4BCB-8834-F5D63ACA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3008C-1D75-07D6-3714-DACDBC11C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E5F03-EF6C-F680-B5DE-D24AF284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2919A-1955-7D5A-7E1E-698CE13D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D4433-3CDF-2461-D6E3-E2959410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3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36A82-7C87-1D17-575F-BD4BDC82C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83D6D-17E5-F9F0-09B1-1189D45E9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84D22-C57D-4F5F-1DEB-4C528E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4932A-83AA-C0CF-911A-378A1F74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BE292-65AF-71C7-C49B-CC0DF5F6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79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660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349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34775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0906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4794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BA02-0C92-2867-5DAE-3F328ADAC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99602-DCEB-2504-90DE-B1B40F3A0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01A73-ED8F-6396-184C-90F8F593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E059-A5E5-48C1-BE69-D425513979A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AAEA-855F-4E77-3579-B8050988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DD1D5-0AAB-F56B-F558-DBD2723C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41D50-07E5-4626-802C-580EEBBB0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241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4593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567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A36920-3D12-9910-8431-A0108182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AC413-DA12-FD3C-1A1F-C0F1E9023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024A3-3545-C79C-92DE-42819E4F2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398F4-06EA-DE47-8AB4-3D128A021EF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C8F29-E00A-F377-45FA-FB956B992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1B71D-7C9C-D7EF-511B-7EFC9D2F4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7FA50-543B-7A44-AEDE-D1267748D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9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04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68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emf"/><Relationship Id="rId11" Type="http://schemas.openxmlformats.org/officeDocument/2006/relationships/image" Target="../media/image16.emf"/><Relationship Id="rId5" Type="http://schemas.openxmlformats.org/officeDocument/2006/relationships/image" Target="../media/image10.emf"/><Relationship Id="rId10" Type="http://schemas.openxmlformats.org/officeDocument/2006/relationships/image" Target="../media/image15.emf"/><Relationship Id="rId4" Type="http://schemas.openxmlformats.org/officeDocument/2006/relationships/image" Target="../media/image9.emf"/><Relationship Id="rId9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64C97-3115-8F21-1538-58CBFDD7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white dots&#10;&#10;AI-generated content may be incorrect.">
            <a:extLst>
              <a:ext uri="{FF2B5EF4-FFF2-40B4-BE49-F238E27FC236}">
                <a16:creationId xmlns:a16="http://schemas.microsoft.com/office/drawing/2014/main" id="{27827F50-DE56-F210-C030-E171AA46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799"/>
          <a:stretch>
            <a:fillRect/>
          </a:stretch>
        </p:blipFill>
        <p:spPr>
          <a:xfrm>
            <a:off x="0" y="0"/>
            <a:ext cx="1217217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6BF9D1-C3D0-1B77-1BF6-5D7D63897E34}"/>
              </a:ext>
            </a:extLst>
          </p:cNvPr>
          <p:cNvSpPr txBox="1"/>
          <p:nvPr/>
        </p:nvSpPr>
        <p:spPr>
          <a:xfrm>
            <a:off x="595311" y="2236437"/>
            <a:ext cx="53900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FD5B0E"/>
                </a:solidFill>
                <a:latin typeface="Playfair Display" pitchFamily="2" charset="77"/>
              </a:rPr>
              <a:t>Skills Visibility.</a:t>
            </a:r>
            <a:br>
              <a:rPr lang="en-US" sz="4400">
                <a:solidFill>
                  <a:srgbClr val="FD5B0E"/>
                </a:solidFill>
                <a:latin typeface="Playfair Display" pitchFamily="2" charset="77"/>
              </a:rPr>
            </a:br>
            <a:r>
              <a:rPr lang="en-US" sz="4400">
                <a:solidFill>
                  <a:srgbClr val="FD5B0E"/>
                </a:solidFill>
                <a:latin typeface="Playfair Display" pitchFamily="2" charset="77"/>
              </a:rPr>
              <a:t>Business Agility.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99948-E652-B965-4ADA-278CD4097F89}"/>
              </a:ext>
            </a:extLst>
          </p:cNvPr>
          <p:cNvSpPr txBox="1"/>
          <p:nvPr/>
        </p:nvSpPr>
        <p:spPr>
          <a:xfrm>
            <a:off x="595313" y="3689486"/>
            <a:ext cx="5500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AI-powered skills intelligence layer </a:t>
            </a:r>
            <a:br>
              <a:rPr lang="en-US" sz="20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20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for smarter workforce decisions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7743EF-1070-B37E-8E58-24BFE7D5A127}"/>
              </a:ext>
            </a:extLst>
          </p:cNvPr>
          <p:cNvSpPr/>
          <p:nvPr/>
        </p:nvSpPr>
        <p:spPr>
          <a:xfrm>
            <a:off x="707229" y="5700717"/>
            <a:ext cx="1028700" cy="5715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F2190-FA31-0FC3-9677-C4D33FC0541E}"/>
              </a:ext>
            </a:extLst>
          </p:cNvPr>
          <p:cNvSpPr txBox="1"/>
          <p:nvPr/>
        </p:nvSpPr>
        <p:spPr>
          <a:xfrm>
            <a:off x="595310" y="5833769"/>
            <a:ext cx="5500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Master Deck,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99229C-A8B7-DE9A-68FC-A9B374EB5C6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10" y="750255"/>
            <a:ext cx="2508250" cy="735927"/>
          </a:xfrm>
          <a:prstGeom prst="rect">
            <a:avLst/>
          </a:prstGeom>
        </p:spPr>
      </p:pic>
      <p:pic>
        <p:nvPicPr>
          <p:cNvPr id="7" name="Picture 6" descr="A person and person smiling for a picture&#10;&#10;AI-generated content may be incorrect.">
            <a:extLst>
              <a:ext uri="{FF2B5EF4-FFF2-40B4-BE49-F238E27FC236}">
                <a16:creationId xmlns:a16="http://schemas.microsoft.com/office/drawing/2014/main" id="{F41A7658-6337-7E7D-E41A-4F8D20DBF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699" y="1747701"/>
            <a:ext cx="6698477" cy="511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3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EAEBB-7A15-16FB-C507-39FB7808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DD393-9482-5C72-4F42-B2A3616BC09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Business Outcomes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55B5D76-7EB4-7611-DEDA-CAFB6805845B}"/>
              </a:ext>
            </a:extLst>
          </p:cNvPr>
          <p:cNvGraphicFramePr>
            <a:graphicFrameLocks noGrp="1"/>
          </p:cNvGraphicFramePr>
          <p:nvPr/>
        </p:nvGraphicFramePr>
        <p:xfrm>
          <a:off x="423862" y="897222"/>
          <a:ext cx="11344274" cy="50837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0865">
                  <a:extLst>
                    <a:ext uri="{9D8B030D-6E8A-4147-A177-3AD203B41FA5}">
                      <a16:colId xmlns:a16="http://schemas.microsoft.com/office/drawing/2014/main" val="3463648758"/>
                    </a:ext>
                  </a:extLst>
                </a:gridCol>
                <a:gridCol w="2119746">
                  <a:extLst>
                    <a:ext uri="{9D8B030D-6E8A-4147-A177-3AD203B41FA5}">
                      <a16:colId xmlns:a16="http://schemas.microsoft.com/office/drawing/2014/main" val="2415480595"/>
                    </a:ext>
                  </a:extLst>
                </a:gridCol>
                <a:gridCol w="4031672">
                  <a:extLst>
                    <a:ext uri="{9D8B030D-6E8A-4147-A177-3AD203B41FA5}">
                      <a16:colId xmlns:a16="http://schemas.microsoft.com/office/drawing/2014/main" val="1695755651"/>
                    </a:ext>
                  </a:extLst>
                </a:gridCol>
                <a:gridCol w="2395105">
                  <a:extLst>
                    <a:ext uri="{9D8B030D-6E8A-4147-A177-3AD203B41FA5}">
                      <a16:colId xmlns:a16="http://schemas.microsoft.com/office/drawing/2014/main" val="3324174449"/>
                    </a:ext>
                  </a:extLst>
                </a:gridCol>
                <a:gridCol w="1766886">
                  <a:extLst>
                    <a:ext uri="{9D8B030D-6E8A-4147-A177-3AD203B41FA5}">
                      <a16:colId xmlns:a16="http://schemas.microsoft.com/office/drawing/2014/main" val="390004334"/>
                    </a:ext>
                  </a:extLst>
                </a:gridCol>
              </a:tblGrid>
              <a:tr h="218319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Who</a:t>
                      </a:r>
                      <a:endParaRPr lang="en-IN" sz="1300" b="0">
                        <a:solidFill>
                          <a:schemeClr val="bg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     What</a:t>
                      </a:r>
                      <a:endParaRPr lang="en-IN" sz="1300" b="0">
                        <a:solidFill>
                          <a:schemeClr val="bg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     Why</a:t>
                      </a:r>
                      <a:endParaRPr lang="en-IN" sz="1300" b="0">
                        <a:solidFill>
                          <a:srgbClr val="FF0000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Strategic Outcome</a:t>
                      </a:r>
                      <a:endParaRPr lang="en-IN" sz="1300" b="0">
                        <a:solidFill>
                          <a:schemeClr val="bg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254192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Employee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Avenue to benchmark one’s proficiency on primary skill(s)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Showcase validated skill, and ride a differentiated career journey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Understand specific skill gaps, to undertake related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Self-directed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Career Trajectory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US" sz="1000" b="0">
                          <a:latin typeface="Poppins" pitchFamily="2" charset="77"/>
                          <a:cs typeface="Poppins" pitchFamily="2" charset="77"/>
                        </a:rPr>
                        <a:t>Engagement</a:t>
                      </a: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/>
                      </a:r>
                      <a:b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</a:b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US" sz="1000" b="0">
                          <a:latin typeface="Poppins" pitchFamily="2" charset="77"/>
                          <a:cs typeface="Poppins" pitchFamily="2" charset="77"/>
                        </a:rPr>
                        <a:t>Happiness</a:t>
                      </a:r>
                      <a:endParaRPr lang="en-US" sz="1000" b="1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US" sz="1000" b="0">
                          <a:latin typeface="Poppins" pitchFamily="2" charset="77"/>
                          <a:cs typeface="Poppins" pitchFamily="2" charset="77"/>
                        </a:rPr>
                        <a:t>Promotion</a:t>
                      </a:r>
                      <a:endParaRPr lang="en-US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643394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Manager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View of skill update of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View of dynamic skill mix for planning task/role allocation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Coaching and motivating team on skill/career enhancement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Delivery Optimization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Project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 profitability</a:t>
                      </a:r>
                      <a:endParaRPr lang="en-IN" sz="1000" b="0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IN" sz="1000" b="0" u="none" strike="noStrike" kern="1200" noProof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</a:rPr>
                        <a:t>Client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 relationships</a:t>
                      </a:r>
                      <a:endParaRPr lang="en-IN" sz="1000" b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573658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L&amp;D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Skills benchmarking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Skill 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Enable your workforce at scale by providing your people with hyper-personalized learning plans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Built for the precise skills they need to succeed today and tomorrow.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Personalized Learning Programs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Automated Career Path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Revenue &amp; billability</a:t>
                      </a:r>
                      <a:endParaRPr lang="en-US" sz="1000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↓ 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Hiring &amp; training costs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79364"/>
                  </a:ext>
                </a:extLst>
              </a:tr>
              <a:tr h="462324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Recruitment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Continuous inflow of qualified talent​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Pre-vetted talent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Hire Job fit candidates​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Build competitive advantage 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Enhancing Talent Quality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↓ Time to hire</a:t>
                      </a:r>
                      <a:b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</a:b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↓ Hiring cost</a:t>
                      </a:r>
                      <a:b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</a:b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Offer to join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019312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WFM/RMG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Mechanism to have validated primary skill in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More accurate demand-supply match, reduced cycle time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Better/confident proposals to account/client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Supply Chain Effectiveness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↓ 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Project staffing &amp; execution time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New deal win rates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583348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HRBP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Additional qualitative measure to associate’s career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Support Talent segmentation initiative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Better differentiation and reduced subjectivity in HR processes like career advancement, internal mobility, etc.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Differentiated Total Rewards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Engagement &amp; retention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b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</a:b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Compensation costs optimization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311534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Sales/ BD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Validated skills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Showcase skills summary to client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Data for RFP responses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Market Positioning</a:t>
                      </a:r>
                      <a:endParaRPr lang="en-IN" sz="1000" b="1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IN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New deal win rates</a:t>
                      </a:r>
                      <a:endParaRPr lang="en-IN" sz="1000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↓ </a:t>
                      </a:r>
                      <a:r>
                        <a:rPr lang="en-US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RFP turnaround time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US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Client trust &amp; retention</a:t>
                      </a:r>
                      <a:endParaRPr lang="en-US" sz="1000" b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287717"/>
                  </a:ext>
                </a:extLst>
              </a:tr>
              <a:tr h="590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Org./</a:t>
                      </a:r>
                      <a:b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</a:b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CEO/ CHRO</a:t>
                      </a:r>
                      <a:endParaRPr lang="en-US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Dashboard for associates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Dashboard for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Organization transformation towards a new vision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u="none" strike="noStrike" noProof="0">
                          <a:solidFill>
                            <a:srgbClr val="000000"/>
                          </a:solidFill>
                          <a:latin typeface="Poppins" pitchFamily="2" charset="77"/>
                          <a:cs typeface="Poppins" pitchFamily="2" charset="77"/>
                        </a:rPr>
                        <a:t>Skills based data decisions for all the employees</a:t>
                      </a:r>
                      <a:endParaRPr lang="en-US" sz="1000">
                        <a:latin typeface="Poppins" pitchFamily="2" charset="77"/>
                        <a:cs typeface="Poppins" pitchFamily="2" charset="77"/>
                      </a:endParaRP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Poppins" pitchFamily="2" charset="77"/>
                          <a:cs typeface="Poppins" pitchFamily="2" charset="77"/>
                        </a:rPr>
                        <a:t>Data-drive based workforce planning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Anticipate Change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Poppins" pitchFamily="2" charset="77"/>
                          <a:cs typeface="Poppins" pitchFamily="2" charset="77"/>
                        </a:rPr>
                        <a:t>Respond Efficiently &amp; Effectively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US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Workforce agility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>
                          <a:latin typeface="Poppins" pitchFamily="2" charset="77"/>
                          <a:cs typeface="Poppins" pitchFamily="2" charset="77"/>
                        </a:rPr>
                        <a:t>↑ </a:t>
                      </a:r>
                      <a:r>
                        <a:rPr lang="en-US" sz="1000" b="0">
                          <a:latin typeface="Poppins" pitchFamily="2" charset="77"/>
                          <a:cs typeface="Poppins" pitchFamily="2" charset="77"/>
                        </a:rPr>
                        <a:t>Organizational </a:t>
                      </a:r>
                      <a:r>
                        <a:rPr lang="en-US" sz="1000" b="0" u="none" strike="noStrike" noProof="0">
                          <a:latin typeface="Poppins" pitchFamily="2" charset="77"/>
                          <a:cs typeface="Poppins" pitchFamily="2" charset="77"/>
                        </a:rPr>
                        <a:t>transformation strength</a:t>
                      </a:r>
                      <a:endParaRPr lang="en-US"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97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92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044">
            <a:extLst>
              <a:ext uri="{FF2B5EF4-FFF2-40B4-BE49-F238E27FC236}">
                <a16:creationId xmlns:a16="http://schemas.microsoft.com/office/drawing/2014/main" id="{B2BD43B0-DA5D-7A48-FB56-54D883578764}"/>
              </a:ext>
            </a:extLst>
          </p:cNvPr>
          <p:cNvSpPr/>
          <p:nvPr/>
        </p:nvSpPr>
        <p:spPr>
          <a:xfrm>
            <a:off x="246065" y="1021357"/>
            <a:ext cx="11768135" cy="4553638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19046" cap="flat">
            <a:solidFill>
              <a:srgbClr val="747474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Rounded Rectangle 13">
            <a:extLst>
              <a:ext uri="{FF2B5EF4-FFF2-40B4-BE49-F238E27FC236}">
                <a16:creationId xmlns:a16="http://schemas.microsoft.com/office/drawing/2014/main" id="{3FC342B0-F432-5AC5-46C7-EF093ED96065}"/>
              </a:ext>
            </a:extLst>
          </p:cNvPr>
          <p:cNvSpPr/>
          <p:nvPr/>
        </p:nvSpPr>
        <p:spPr>
          <a:xfrm>
            <a:off x="837279" y="1782732"/>
            <a:ext cx="2679722" cy="3113467"/>
          </a:xfrm>
          <a:custGeom>
            <a:avLst>
              <a:gd name="f10" fmla="val 14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46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19046" cap="flat">
            <a:solidFill>
              <a:srgbClr val="74747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7">
            <a:extLst>
              <a:ext uri="{FF2B5EF4-FFF2-40B4-BE49-F238E27FC236}">
                <a16:creationId xmlns:a16="http://schemas.microsoft.com/office/drawing/2014/main" id="{E0AADFC5-1F67-A0A2-27E2-09184D73A354}"/>
              </a:ext>
            </a:extLst>
          </p:cNvPr>
          <p:cNvSpPr txBox="1"/>
          <p:nvPr/>
        </p:nvSpPr>
        <p:spPr>
          <a:xfrm>
            <a:off x="8624181" y="1179219"/>
            <a:ext cx="2009586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81AEC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Demand</a:t>
            </a:r>
          </a:p>
        </p:txBody>
      </p:sp>
      <p:sp>
        <p:nvSpPr>
          <p:cNvPr id="5" name="Rounded Rectangle 50">
            <a:extLst>
              <a:ext uri="{FF2B5EF4-FFF2-40B4-BE49-F238E27FC236}">
                <a16:creationId xmlns:a16="http://schemas.microsoft.com/office/drawing/2014/main" id="{344CB742-3AD3-73FE-50AD-287BD876B7A3}"/>
              </a:ext>
            </a:extLst>
          </p:cNvPr>
          <p:cNvSpPr/>
          <p:nvPr/>
        </p:nvSpPr>
        <p:spPr>
          <a:xfrm>
            <a:off x="8363175" y="1780117"/>
            <a:ext cx="2761488" cy="3115488"/>
          </a:xfrm>
          <a:custGeom>
            <a:avLst>
              <a:gd name="f10" fmla="val 14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46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19046" cap="flat">
            <a:solidFill>
              <a:srgbClr val="7F7F7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1026">
            <a:extLst>
              <a:ext uri="{FF2B5EF4-FFF2-40B4-BE49-F238E27FC236}">
                <a16:creationId xmlns:a16="http://schemas.microsoft.com/office/drawing/2014/main" id="{E32E2B35-DD95-6DE0-D9D7-C52EED398E2F}"/>
              </a:ext>
            </a:extLst>
          </p:cNvPr>
          <p:cNvSpPr txBox="1"/>
          <p:nvPr/>
        </p:nvSpPr>
        <p:spPr>
          <a:xfrm>
            <a:off x="917719" y="1179219"/>
            <a:ext cx="2490313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81AEC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Supply</a:t>
            </a:r>
          </a:p>
        </p:txBody>
      </p:sp>
      <p:pic>
        <p:nvPicPr>
          <p:cNvPr id="7" name="Graphic 1037">
            <a:extLst>
              <a:ext uri="{FF2B5EF4-FFF2-40B4-BE49-F238E27FC236}">
                <a16:creationId xmlns:a16="http://schemas.microsoft.com/office/drawing/2014/main" id="{DA24B971-52E2-71E8-FB3C-FE78877C1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070" y="1857393"/>
            <a:ext cx="278480" cy="27848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Graphic 1038">
            <a:extLst>
              <a:ext uri="{FF2B5EF4-FFF2-40B4-BE49-F238E27FC236}">
                <a16:creationId xmlns:a16="http://schemas.microsoft.com/office/drawing/2014/main" id="{3CAA2F27-04FA-AF94-20B1-8BF9529775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4937" y="1900004"/>
            <a:ext cx="278480" cy="2784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ounded Rectangle 36">
            <a:extLst>
              <a:ext uri="{FF2B5EF4-FFF2-40B4-BE49-F238E27FC236}">
                <a16:creationId xmlns:a16="http://schemas.microsoft.com/office/drawing/2014/main" id="{F72E54D6-45BF-6DBC-5E96-9EFA1D741A26}"/>
              </a:ext>
            </a:extLst>
          </p:cNvPr>
          <p:cNvSpPr/>
          <p:nvPr/>
        </p:nvSpPr>
        <p:spPr>
          <a:xfrm>
            <a:off x="246065" y="5068948"/>
            <a:ext cx="11768135" cy="71503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81AE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0" name="Graphic 38">
            <a:extLst>
              <a:ext uri="{FF2B5EF4-FFF2-40B4-BE49-F238E27FC236}">
                <a16:creationId xmlns:a16="http://schemas.microsoft.com/office/drawing/2014/main" id="{56F0BEBA-76CD-7076-8217-875F62552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784" y="5123063"/>
            <a:ext cx="440384" cy="44038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ounded Rectangle 41">
            <a:extLst>
              <a:ext uri="{FF2B5EF4-FFF2-40B4-BE49-F238E27FC236}">
                <a16:creationId xmlns:a16="http://schemas.microsoft.com/office/drawing/2014/main" id="{510E23A5-A102-CA56-48FF-A2FDBA640D9F}"/>
              </a:ext>
            </a:extLst>
          </p:cNvPr>
          <p:cNvSpPr/>
          <p:nvPr/>
        </p:nvSpPr>
        <p:spPr>
          <a:xfrm>
            <a:off x="1201494" y="5188634"/>
            <a:ext cx="1541614" cy="48889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Fairness</a:t>
            </a:r>
          </a:p>
        </p:txBody>
      </p:sp>
      <p:sp>
        <p:nvSpPr>
          <p:cNvPr id="12" name="Rounded Rectangle 42">
            <a:extLst>
              <a:ext uri="{FF2B5EF4-FFF2-40B4-BE49-F238E27FC236}">
                <a16:creationId xmlns:a16="http://schemas.microsoft.com/office/drawing/2014/main" id="{6EC835C2-4ADF-A893-E420-C3B6276EFAF7}"/>
              </a:ext>
            </a:extLst>
          </p:cNvPr>
          <p:cNvSpPr/>
          <p:nvPr/>
        </p:nvSpPr>
        <p:spPr>
          <a:xfrm>
            <a:off x="8414610" y="5192228"/>
            <a:ext cx="1541614" cy="48889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Transparency</a:t>
            </a:r>
          </a:p>
        </p:txBody>
      </p:sp>
      <p:sp>
        <p:nvSpPr>
          <p:cNvPr id="13" name="Rounded Rectangle 1025">
            <a:extLst>
              <a:ext uri="{FF2B5EF4-FFF2-40B4-BE49-F238E27FC236}">
                <a16:creationId xmlns:a16="http://schemas.microsoft.com/office/drawing/2014/main" id="{A3DC96C2-C1BE-20B7-B268-1D77E7539A50}"/>
              </a:ext>
            </a:extLst>
          </p:cNvPr>
          <p:cNvSpPr/>
          <p:nvPr/>
        </p:nvSpPr>
        <p:spPr>
          <a:xfrm>
            <a:off x="6631539" y="5191240"/>
            <a:ext cx="1541614" cy="48889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Inclusiveness</a:t>
            </a:r>
          </a:p>
        </p:txBody>
      </p:sp>
      <p:sp>
        <p:nvSpPr>
          <p:cNvPr id="14" name="Rounded Rectangle 1036">
            <a:extLst>
              <a:ext uri="{FF2B5EF4-FFF2-40B4-BE49-F238E27FC236}">
                <a16:creationId xmlns:a16="http://schemas.microsoft.com/office/drawing/2014/main" id="{1B58AAF7-CC33-8FA3-5ACE-273525AE2F2A}"/>
              </a:ext>
            </a:extLst>
          </p:cNvPr>
          <p:cNvSpPr/>
          <p:nvPr/>
        </p:nvSpPr>
        <p:spPr>
          <a:xfrm>
            <a:off x="4848459" y="5188634"/>
            <a:ext cx="1541614" cy="48889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Privacy &amp; Security</a:t>
            </a:r>
          </a:p>
        </p:txBody>
      </p:sp>
      <p:sp>
        <p:nvSpPr>
          <p:cNvPr id="15" name="Rounded Rectangle 1043">
            <a:extLst>
              <a:ext uri="{FF2B5EF4-FFF2-40B4-BE49-F238E27FC236}">
                <a16:creationId xmlns:a16="http://schemas.microsoft.com/office/drawing/2014/main" id="{24066DBD-E0BA-7DFD-1995-CB7F05F42922}"/>
              </a:ext>
            </a:extLst>
          </p:cNvPr>
          <p:cNvSpPr/>
          <p:nvPr/>
        </p:nvSpPr>
        <p:spPr>
          <a:xfrm>
            <a:off x="3044110" y="5188634"/>
            <a:ext cx="1541614" cy="48889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Reliability &amp; Safety</a:t>
            </a:r>
          </a:p>
        </p:txBody>
      </p:sp>
      <p:sp>
        <p:nvSpPr>
          <p:cNvPr id="16" name="TextBox 1045">
            <a:extLst>
              <a:ext uri="{FF2B5EF4-FFF2-40B4-BE49-F238E27FC236}">
                <a16:creationId xmlns:a16="http://schemas.microsoft.com/office/drawing/2014/main" id="{3956830F-64C8-BFF4-3181-A5CDBA861937}"/>
              </a:ext>
            </a:extLst>
          </p:cNvPr>
          <p:cNvSpPr txBox="1"/>
          <p:nvPr/>
        </p:nvSpPr>
        <p:spPr>
          <a:xfrm>
            <a:off x="1094856" y="5853293"/>
            <a:ext cx="10204877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iMocha AI Vision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 -&gt; AI that understands skills, powers careers, and prepares organizations for the future of work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Medium" pitchFamily="2"/>
              <a:ea typeface="+mn-ea"/>
              <a:cs typeface="Poppins Medium" pitchFamily="2"/>
            </a:endParaRPr>
          </a:p>
        </p:txBody>
      </p:sp>
      <p:sp>
        <p:nvSpPr>
          <p:cNvPr id="17" name="Rounded Rectangle 1">
            <a:extLst>
              <a:ext uri="{FF2B5EF4-FFF2-40B4-BE49-F238E27FC236}">
                <a16:creationId xmlns:a16="http://schemas.microsoft.com/office/drawing/2014/main" id="{ED41615E-9FEF-6B33-FEE9-FEE38796BEB0}"/>
              </a:ext>
            </a:extLst>
          </p:cNvPr>
          <p:cNvSpPr/>
          <p:nvPr/>
        </p:nvSpPr>
        <p:spPr>
          <a:xfrm>
            <a:off x="4512143" y="1782732"/>
            <a:ext cx="2855881" cy="3113467"/>
          </a:xfrm>
          <a:custGeom>
            <a:avLst>
              <a:gd name="f10" fmla="val 14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46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Graphic 3">
            <a:extLst>
              <a:ext uri="{FF2B5EF4-FFF2-40B4-BE49-F238E27FC236}">
                <a16:creationId xmlns:a16="http://schemas.microsoft.com/office/drawing/2014/main" id="{9366E7AB-5D88-646F-3007-DE095FB9C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8248" y="1874977"/>
            <a:ext cx="278480" cy="2784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Box 4">
            <a:extLst>
              <a:ext uri="{FF2B5EF4-FFF2-40B4-BE49-F238E27FC236}">
                <a16:creationId xmlns:a16="http://schemas.microsoft.com/office/drawing/2014/main" id="{54328967-5E22-D0D0-C112-709FA6345B78}"/>
              </a:ext>
            </a:extLst>
          </p:cNvPr>
          <p:cNvSpPr txBox="1"/>
          <p:nvPr/>
        </p:nvSpPr>
        <p:spPr>
          <a:xfrm>
            <a:off x="579784" y="280638"/>
            <a:ext cx="11116918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3400" b="0" i="0" u="none" strike="noStrike" kern="1200" cap="none" spc="0" normalizeH="0" baseline="0" noProof="0" err="1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layfair Display" pitchFamily="2"/>
                <a:ea typeface="Aptos"/>
                <a:cs typeface="Aptos"/>
              </a:rPr>
              <a:t>iMocha</a:t>
            </a: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layfair Display" pitchFamily="2"/>
                <a:ea typeface="Aptos"/>
                <a:cs typeface="Aptos"/>
              </a:rPr>
              <a:t> AI Governance – Built for Enterprise Trust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layfair Display" pitchFamily="2"/>
              <a:ea typeface="+mn-ea"/>
              <a:cs typeface="+mn-c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8814A961-4F02-1E80-AE58-51A3F49170DB}"/>
              </a:ext>
            </a:extLst>
          </p:cNvPr>
          <p:cNvSpPr txBox="1"/>
          <p:nvPr/>
        </p:nvSpPr>
        <p:spPr>
          <a:xfrm>
            <a:off x="1114315" y="2185955"/>
            <a:ext cx="2208641" cy="26776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Employees review and confirm the inferred skills.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lt"/>
                <a:cs typeface="+mn-lt"/>
              </a:rPr>
              <a:t>Built-in governance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 workflows ensure accuracy and ownership</a:t>
            </a: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Audit trails eliminate assumptions and unverified data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3D07B0F5-C991-A800-7209-CD78A7342E91}"/>
              </a:ext>
            </a:extLst>
          </p:cNvPr>
          <p:cNvSpPr txBox="1"/>
          <p:nvPr/>
        </p:nvSpPr>
        <p:spPr>
          <a:xfrm>
            <a:off x="8521942" y="2188241"/>
            <a:ext cx="2552291" cy="246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HR and business approve role and competency requirements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Standardized taxonomy prevents drift and duplication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Creates a consistent, enterprise-grade demand signal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7A834D7D-0D9A-98F2-C705-5317CA09C87C}"/>
              </a:ext>
            </a:extLst>
          </p:cNvPr>
          <p:cNvSpPr txBox="1"/>
          <p:nvPr/>
        </p:nvSpPr>
        <p:spPr>
          <a:xfrm>
            <a:off x="4729395" y="2185955"/>
            <a:ext cx="2638245" cy="246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GenAI powered, transparent, logic-based matching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Aptos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Scoring rationale and confidence levels for every match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Consistent, bias-free decisions designed for audit and scale</a:t>
            </a:r>
          </a:p>
        </p:txBody>
      </p:sp>
      <p:sp>
        <p:nvSpPr>
          <p:cNvPr id="23" name="TextBox 43">
            <a:extLst>
              <a:ext uri="{FF2B5EF4-FFF2-40B4-BE49-F238E27FC236}">
                <a16:creationId xmlns:a16="http://schemas.microsoft.com/office/drawing/2014/main" id="{8348F346-1D37-E35D-ECE0-1CF1BCDFEBE8}"/>
              </a:ext>
            </a:extLst>
          </p:cNvPr>
          <p:cNvSpPr txBox="1"/>
          <p:nvPr/>
        </p:nvSpPr>
        <p:spPr>
          <a:xfrm>
            <a:off x="4636986" y="1220239"/>
            <a:ext cx="2490313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81AEC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Skills Matching</a:t>
            </a:r>
          </a:p>
        </p:txBody>
      </p:sp>
      <p:sp>
        <p:nvSpPr>
          <p:cNvPr id="24" name="TextBox 58">
            <a:extLst>
              <a:ext uri="{FF2B5EF4-FFF2-40B4-BE49-F238E27FC236}">
                <a16:creationId xmlns:a16="http://schemas.microsoft.com/office/drawing/2014/main" id="{C7E62591-52D9-11AC-C781-4EAC76EB9835}"/>
              </a:ext>
            </a:extLst>
          </p:cNvPr>
          <p:cNvSpPr txBox="1"/>
          <p:nvPr/>
        </p:nvSpPr>
        <p:spPr>
          <a:xfrm>
            <a:off x="917719" y="1458687"/>
            <a:ext cx="2490313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481AEC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Verified Skills from the Source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81AE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59">
            <a:extLst>
              <a:ext uri="{FF2B5EF4-FFF2-40B4-BE49-F238E27FC236}">
                <a16:creationId xmlns:a16="http://schemas.microsoft.com/office/drawing/2014/main" id="{FB941B49-61D8-5AA6-7CCA-4DD0062FA2F1}"/>
              </a:ext>
            </a:extLst>
          </p:cNvPr>
          <p:cNvSpPr txBox="1"/>
          <p:nvPr/>
        </p:nvSpPr>
        <p:spPr>
          <a:xfrm>
            <a:off x="8194825" y="1444029"/>
            <a:ext cx="3155713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481AEC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Curated &amp; Controlled by the Business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81AE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Box 61">
            <a:extLst>
              <a:ext uri="{FF2B5EF4-FFF2-40B4-BE49-F238E27FC236}">
                <a16:creationId xmlns:a16="http://schemas.microsoft.com/office/drawing/2014/main" id="{7F4E06E4-DFC3-78A3-C9BD-AE994942997F}"/>
              </a:ext>
            </a:extLst>
          </p:cNvPr>
          <p:cNvSpPr txBox="1"/>
          <p:nvPr/>
        </p:nvSpPr>
        <p:spPr>
          <a:xfrm>
            <a:off x="4624834" y="1478822"/>
            <a:ext cx="2659925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481AEC"/>
                </a:solidFill>
                <a:effectLst/>
                <a:uLnTx/>
                <a:uFillTx/>
                <a:latin typeface="Poppins"/>
                <a:ea typeface="Aptos"/>
                <a:cs typeface="Aptos"/>
              </a:rPr>
              <a:t>Explainable, Deterministic &amp; Fair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81AE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Right Arrow 62">
            <a:extLst>
              <a:ext uri="{FF2B5EF4-FFF2-40B4-BE49-F238E27FC236}">
                <a16:creationId xmlns:a16="http://schemas.microsoft.com/office/drawing/2014/main" id="{51129E6E-FC8A-0DC6-55B1-C2DF58BFA5A5}"/>
              </a:ext>
            </a:extLst>
          </p:cNvPr>
          <p:cNvSpPr/>
          <p:nvPr/>
        </p:nvSpPr>
        <p:spPr>
          <a:xfrm>
            <a:off x="3812033" y="3125748"/>
            <a:ext cx="506074" cy="291309"/>
          </a:xfrm>
          <a:custGeom>
            <a:avLst>
              <a:gd name="f0" fmla="val 15383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val f7"/>
              <a:gd name="f15" fmla="val f8"/>
              <a:gd name="f16" fmla="pin 0 f0 21600"/>
              <a:gd name="f17" fmla="pin 0 f1 10800"/>
              <a:gd name="f18" fmla="*/ f10 f2 1"/>
              <a:gd name="f19" fmla="*/ f11 f2 1"/>
              <a:gd name="f20" fmla="+- f15 0 f14"/>
              <a:gd name="f21" fmla="val f16"/>
              <a:gd name="f22" fmla="val f17"/>
              <a:gd name="f23" fmla="*/ f16 f12 1"/>
              <a:gd name="f24" fmla="*/ f17 f13 1"/>
              <a:gd name="f25" fmla="*/ f18 1 f4"/>
              <a:gd name="f26" fmla="*/ f19 1 f4"/>
              <a:gd name="f27" fmla="*/ f20 1 21600"/>
              <a:gd name="f28" fmla="+- 21600 0 f22"/>
              <a:gd name="f29" fmla="+- 21600 0 f21"/>
              <a:gd name="f30" fmla="*/ f22 f13 1"/>
              <a:gd name="f31" fmla="*/ f21 f12 1"/>
              <a:gd name="f32" fmla="+- f25 0 f3"/>
              <a:gd name="f33" fmla="+- f26 0 f3"/>
              <a:gd name="f34" fmla="*/ 0 f27 1"/>
              <a:gd name="f35" fmla="*/ 21600 f27 1"/>
              <a:gd name="f36" fmla="*/ f29 f22 1"/>
              <a:gd name="f37" fmla="*/ f28 f13 1"/>
              <a:gd name="f38" fmla="*/ f36 1 10800"/>
              <a:gd name="f39" fmla="*/ f34 1 f27"/>
              <a:gd name="f40" fmla="*/ f35 1 f27"/>
              <a:gd name="f41" fmla="+- f21 f38 0"/>
              <a:gd name="f42" fmla="*/ f39 f12 1"/>
              <a:gd name="f43" fmla="*/ f39 f13 1"/>
              <a:gd name="f44" fmla="*/ f40 f13 1"/>
              <a:gd name="f45" fmla="*/ f41 f12 1"/>
            </a:gdLst>
            <a:ahLst>
              <a:ahXY gdRefX="f0" minX="f7" maxX="f8" gdRefY="f1" minY="f7" maxY="f9">
                <a:pos x="f23" y="f2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43"/>
              </a:cxn>
              <a:cxn ang="f33">
                <a:pos x="f31" y="f44"/>
              </a:cxn>
            </a:cxnLst>
            <a:rect l="f42" t="f30" r="f45" b="f37"/>
            <a:pathLst>
              <a:path w="21600" h="21600">
                <a:moveTo>
                  <a:pt x="f7" y="f22"/>
                </a:moveTo>
                <a:lnTo>
                  <a:pt x="f21" y="f22"/>
                </a:lnTo>
                <a:lnTo>
                  <a:pt x="f21" y="f7"/>
                </a:lnTo>
                <a:lnTo>
                  <a:pt x="f8" y="f9"/>
                </a:lnTo>
                <a:lnTo>
                  <a:pt x="f21" y="f8"/>
                </a:lnTo>
                <a:lnTo>
                  <a:pt x="f21" y="f28"/>
                </a:lnTo>
                <a:lnTo>
                  <a:pt x="f7" y="f28"/>
                </a:lnTo>
                <a:close/>
              </a:path>
            </a:pathLst>
          </a:custGeom>
          <a:solidFill>
            <a:srgbClr val="481AE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Right Arrow 14335">
            <a:extLst>
              <a:ext uri="{FF2B5EF4-FFF2-40B4-BE49-F238E27FC236}">
                <a16:creationId xmlns:a16="http://schemas.microsoft.com/office/drawing/2014/main" id="{7257956E-A987-3222-F91E-CE2013191ED4}"/>
              </a:ext>
            </a:extLst>
          </p:cNvPr>
          <p:cNvSpPr/>
          <p:nvPr/>
        </p:nvSpPr>
        <p:spPr>
          <a:xfrm rot="10799991">
            <a:off x="7566266" y="3125748"/>
            <a:ext cx="506074" cy="291309"/>
          </a:xfrm>
          <a:custGeom>
            <a:avLst>
              <a:gd name="f0" fmla="val 15383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val f7"/>
              <a:gd name="f15" fmla="val f8"/>
              <a:gd name="f16" fmla="pin 0 f0 21600"/>
              <a:gd name="f17" fmla="pin 0 f1 10800"/>
              <a:gd name="f18" fmla="*/ f10 f2 1"/>
              <a:gd name="f19" fmla="*/ f11 f2 1"/>
              <a:gd name="f20" fmla="+- f15 0 f14"/>
              <a:gd name="f21" fmla="val f16"/>
              <a:gd name="f22" fmla="val f17"/>
              <a:gd name="f23" fmla="*/ f16 f12 1"/>
              <a:gd name="f24" fmla="*/ f17 f13 1"/>
              <a:gd name="f25" fmla="*/ f18 1 f4"/>
              <a:gd name="f26" fmla="*/ f19 1 f4"/>
              <a:gd name="f27" fmla="*/ f20 1 21600"/>
              <a:gd name="f28" fmla="+- 21600 0 f22"/>
              <a:gd name="f29" fmla="+- 21600 0 f21"/>
              <a:gd name="f30" fmla="*/ f22 f13 1"/>
              <a:gd name="f31" fmla="*/ f21 f12 1"/>
              <a:gd name="f32" fmla="+- f25 0 f3"/>
              <a:gd name="f33" fmla="+- f26 0 f3"/>
              <a:gd name="f34" fmla="*/ 0 f27 1"/>
              <a:gd name="f35" fmla="*/ 21600 f27 1"/>
              <a:gd name="f36" fmla="*/ f29 f22 1"/>
              <a:gd name="f37" fmla="*/ f28 f13 1"/>
              <a:gd name="f38" fmla="*/ f36 1 10800"/>
              <a:gd name="f39" fmla="*/ f34 1 f27"/>
              <a:gd name="f40" fmla="*/ f35 1 f27"/>
              <a:gd name="f41" fmla="+- f21 f38 0"/>
              <a:gd name="f42" fmla="*/ f39 f12 1"/>
              <a:gd name="f43" fmla="*/ f39 f13 1"/>
              <a:gd name="f44" fmla="*/ f40 f13 1"/>
              <a:gd name="f45" fmla="*/ f41 f12 1"/>
            </a:gdLst>
            <a:ahLst>
              <a:ahXY gdRefX="f0" minX="f7" maxX="f8" gdRefY="f1" minY="f7" maxY="f9">
                <a:pos x="f23" y="f2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43"/>
              </a:cxn>
              <a:cxn ang="f33">
                <a:pos x="f31" y="f44"/>
              </a:cxn>
            </a:cxnLst>
            <a:rect l="f42" t="f30" r="f45" b="f37"/>
            <a:pathLst>
              <a:path w="21600" h="21600">
                <a:moveTo>
                  <a:pt x="f7" y="f22"/>
                </a:moveTo>
                <a:lnTo>
                  <a:pt x="f21" y="f22"/>
                </a:lnTo>
                <a:lnTo>
                  <a:pt x="f21" y="f7"/>
                </a:lnTo>
                <a:lnTo>
                  <a:pt x="f8" y="f9"/>
                </a:lnTo>
                <a:lnTo>
                  <a:pt x="f21" y="f8"/>
                </a:lnTo>
                <a:lnTo>
                  <a:pt x="f21" y="f28"/>
                </a:lnTo>
                <a:lnTo>
                  <a:pt x="f7" y="f28"/>
                </a:lnTo>
                <a:close/>
              </a:path>
            </a:pathLst>
          </a:custGeom>
          <a:solidFill>
            <a:srgbClr val="481AE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Rounded Rectangle 14336">
            <a:extLst>
              <a:ext uri="{FF2B5EF4-FFF2-40B4-BE49-F238E27FC236}">
                <a16:creationId xmlns:a16="http://schemas.microsoft.com/office/drawing/2014/main" id="{F3691CBE-56EB-5A62-D3C9-BFDE442E7596}"/>
              </a:ext>
            </a:extLst>
          </p:cNvPr>
          <p:cNvSpPr/>
          <p:nvPr/>
        </p:nvSpPr>
        <p:spPr>
          <a:xfrm>
            <a:off x="10209541" y="5177415"/>
            <a:ext cx="1541614" cy="488893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/>
                <a:ea typeface="+mn-ea"/>
                <a:cs typeface="Poppins" pitchFamily="2"/>
              </a:rPr>
              <a:t>Accountability</a:t>
            </a:r>
          </a:p>
        </p:txBody>
      </p:sp>
    </p:spTree>
    <p:extLst>
      <p:ext uri="{BB962C8B-B14F-4D97-AF65-F5344CB8AC3E}">
        <p14:creationId xmlns:p14="http://schemas.microsoft.com/office/powerpoint/2010/main" val="3380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16" grpId="0"/>
      <p:bldP spid="17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79949-CB4F-81A6-B4AB-CFAC7DD9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147555B-A2D6-5486-5E9A-873A96FE98F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EEF359-4A47-D411-3438-E13F46738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03" r="236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EA74EB-06C1-D8F0-93EE-12BF578D7F14}"/>
              </a:ext>
            </a:extLst>
          </p:cNvPr>
          <p:cNvSpPr txBox="1"/>
          <p:nvPr/>
        </p:nvSpPr>
        <p:spPr>
          <a:xfrm>
            <a:off x="3875659" y="2828835"/>
            <a:ext cx="4440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iMocha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at a Glance</a:t>
            </a:r>
          </a:p>
        </p:txBody>
      </p:sp>
    </p:spTree>
    <p:extLst>
      <p:ext uri="{BB962C8B-B14F-4D97-AF65-F5344CB8AC3E}">
        <p14:creationId xmlns:p14="http://schemas.microsoft.com/office/powerpoint/2010/main" val="36213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62FF-1B83-37E9-2F74-4D8636E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DF432-CC2C-B12D-59E9-132A58B4B6C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AI-first Approach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36983D-921B-CFD8-12D0-72AB715AE22E}"/>
              </a:ext>
            </a:extLst>
          </p:cNvPr>
          <p:cNvGrpSpPr/>
          <p:nvPr/>
        </p:nvGrpSpPr>
        <p:grpSpPr>
          <a:xfrm>
            <a:off x="409351" y="1232899"/>
            <a:ext cx="10209765" cy="4751735"/>
            <a:chOff x="1559265" y="1049517"/>
            <a:chExt cx="8232288" cy="38313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DC0462-A503-F76E-BEE4-B62F363288DC}"/>
                </a:ext>
              </a:extLst>
            </p:cNvPr>
            <p:cNvSpPr/>
            <p:nvPr/>
          </p:nvSpPr>
          <p:spPr>
            <a:xfrm>
              <a:off x="1559265" y="2094412"/>
              <a:ext cx="2159426" cy="568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FF3984-1831-8A20-1F79-56A70C28D1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73273" y="1049517"/>
              <a:ext cx="4048124" cy="3367088"/>
              <a:chOff x="1915" y="560"/>
              <a:chExt cx="2550" cy="2121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22A17D0-E6EB-FABE-F755-78B0F0920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1139"/>
                <a:ext cx="792" cy="447"/>
              </a:xfrm>
              <a:custGeom>
                <a:avLst/>
                <a:gdLst>
                  <a:gd name="T0" fmla="*/ 414 w 584"/>
                  <a:gd name="T1" fmla="*/ 0 h 330"/>
                  <a:gd name="T2" fmla="*/ 363 w 584"/>
                  <a:gd name="T3" fmla="*/ 8 h 330"/>
                  <a:gd name="T4" fmla="*/ 255 w 584"/>
                  <a:gd name="T5" fmla="*/ 209 h 330"/>
                  <a:gd name="T6" fmla="*/ 106 w 584"/>
                  <a:gd name="T7" fmla="*/ 258 h 330"/>
                  <a:gd name="T8" fmla="*/ 17 w 584"/>
                  <a:gd name="T9" fmla="*/ 129 h 330"/>
                  <a:gd name="T10" fmla="*/ 16 w 584"/>
                  <a:gd name="T11" fmla="*/ 129 h 330"/>
                  <a:gd name="T12" fmla="*/ 15 w 584"/>
                  <a:gd name="T13" fmla="*/ 129 h 330"/>
                  <a:gd name="T14" fmla="*/ 1 w 584"/>
                  <a:gd name="T15" fmla="*/ 148 h 330"/>
                  <a:gd name="T16" fmla="*/ 1 w 584"/>
                  <a:gd name="T17" fmla="*/ 150 h 330"/>
                  <a:gd name="T18" fmla="*/ 81 w 584"/>
                  <a:gd name="T19" fmla="*/ 266 h 330"/>
                  <a:gd name="T20" fmla="*/ 82 w 584"/>
                  <a:gd name="T21" fmla="*/ 268 h 330"/>
                  <a:gd name="T22" fmla="*/ 83 w 584"/>
                  <a:gd name="T23" fmla="*/ 272 h 330"/>
                  <a:gd name="T24" fmla="*/ 84 w 584"/>
                  <a:gd name="T25" fmla="*/ 276 h 330"/>
                  <a:gd name="T26" fmla="*/ 84 w 584"/>
                  <a:gd name="T27" fmla="*/ 277 h 330"/>
                  <a:gd name="T28" fmla="*/ 85 w 584"/>
                  <a:gd name="T29" fmla="*/ 278 h 330"/>
                  <a:gd name="T30" fmla="*/ 86 w 584"/>
                  <a:gd name="T31" fmla="*/ 278 h 330"/>
                  <a:gd name="T32" fmla="*/ 259 w 584"/>
                  <a:gd name="T33" fmla="*/ 222 h 330"/>
                  <a:gd name="T34" fmla="*/ 414 w 584"/>
                  <a:gd name="T35" fmla="*/ 330 h 330"/>
                  <a:gd name="T36" fmla="*/ 414 w 584"/>
                  <a:gd name="T37" fmla="*/ 330 h 330"/>
                  <a:gd name="T38" fmla="*/ 465 w 584"/>
                  <a:gd name="T39" fmla="*/ 322 h 330"/>
                  <a:gd name="T40" fmla="*/ 561 w 584"/>
                  <a:gd name="T41" fmla="*/ 240 h 330"/>
                  <a:gd name="T42" fmla="*/ 571 w 584"/>
                  <a:gd name="T43" fmla="*/ 114 h 330"/>
                  <a:gd name="T44" fmla="*/ 414 w 584"/>
                  <a:gd name="T45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4" h="330">
                    <a:moveTo>
                      <a:pt x="414" y="0"/>
                    </a:moveTo>
                    <a:cubicBezTo>
                      <a:pt x="397" y="0"/>
                      <a:pt x="379" y="2"/>
                      <a:pt x="363" y="8"/>
                    </a:cubicBezTo>
                    <a:cubicBezTo>
                      <a:pt x="278" y="35"/>
                      <a:pt x="231" y="124"/>
                      <a:pt x="255" y="209"/>
                    </a:cubicBezTo>
                    <a:cubicBezTo>
                      <a:pt x="106" y="258"/>
                      <a:pt x="106" y="258"/>
                      <a:pt x="106" y="258"/>
                    </a:cubicBezTo>
                    <a:cubicBezTo>
                      <a:pt x="88" y="208"/>
                      <a:pt x="58" y="163"/>
                      <a:pt x="17" y="129"/>
                    </a:cubicBezTo>
                    <a:cubicBezTo>
                      <a:pt x="17" y="129"/>
                      <a:pt x="16" y="128"/>
                      <a:pt x="16" y="129"/>
                    </a:cubicBezTo>
                    <a:cubicBezTo>
                      <a:pt x="15" y="129"/>
                      <a:pt x="15" y="129"/>
                      <a:pt x="15" y="129"/>
                    </a:cubicBezTo>
                    <a:cubicBezTo>
                      <a:pt x="1" y="148"/>
                      <a:pt x="1" y="148"/>
                      <a:pt x="1" y="148"/>
                    </a:cubicBezTo>
                    <a:cubicBezTo>
                      <a:pt x="0" y="149"/>
                      <a:pt x="1" y="150"/>
                      <a:pt x="1" y="150"/>
                    </a:cubicBezTo>
                    <a:cubicBezTo>
                      <a:pt x="37" y="181"/>
                      <a:pt x="65" y="221"/>
                      <a:pt x="81" y="266"/>
                    </a:cubicBezTo>
                    <a:cubicBezTo>
                      <a:pt x="82" y="268"/>
                      <a:pt x="82" y="268"/>
                      <a:pt x="82" y="268"/>
                    </a:cubicBezTo>
                    <a:cubicBezTo>
                      <a:pt x="82" y="270"/>
                      <a:pt x="82" y="271"/>
                      <a:pt x="83" y="272"/>
                    </a:cubicBezTo>
                    <a:cubicBezTo>
                      <a:pt x="83" y="274"/>
                      <a:pt x="84" y="275"/>
                      <a:pt x="84" y="276"/>
                    </a:cubicBezTo>
                    <a:cubicBezTo>
                      <a:pt x="84" y="277"/>
                      <a:pt x="84" y="277"/>
                      <a:pt x="84" y="277"/>
                    </a:cubicBezTo>
                    <a:cubicBezTo>
                      <a:pt x="84" y="277"/>
                      <a:pt x="85" y="278"/>
                      <a:pt x="85" y="278"/>
                    </a:cubicBezTo>
                    <a:cubicBezTo>
                      <a:pt x="85" y="278"/>
                      <a:pt x="86" y="278"/>
                      <a:pt x="86" y="278"/>
                    </a:cubicBezTo>
                    <a:cubicBezTo>
                      <a:pt x="259" y="222"/>
                      <a:pt x="259" y="222"/>
                      <a:pt x="259" y="222"/>
                    </a:cubicBezTo>
                    <a:cubicBezTo>
                      <a:pt x="283" y="286"/>
                      <a:pt x="345" y="330"/>
                      <a:pt x="414" y="330"/>
                    </a:cubicBezTo>
                    <a:cubicBezTo>
                      <a:pt x="414" y="330"/>
                      <a:pt x="414" y="330"/>
                      <a:pt x="414" y="330"/>
                    </a:cubicBezTo>
                    <a:cubicBezTo>
                      <a:pt x="431" y="330"/>
                      <a:pt x="448" y="327"/>
                      <a:pt x="465" y="322"/>
                    </a:cubicBezTo>
                    <a:cubicBezTo>
                      <a:pt x="507" y="308"/>
                      <a:pt x="541" y="279"/>
                      <a:pt x="561" y="240"/>
                    </a:cubicBezTo>
                    <a:cubicBezTo>
                      <a:pt x="581" y="200"/>
                      <a:pt x="584" y="156"/>
                      <a:pt x="571" y="114"/>
                    </a:cubicBezTo>
                    <a:cubicBezTo>
                      <a:pt x="549" y="45"/>
                      <a:pt x="486" y="0"/>
                      <a:pt x="414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F8F835C7-DA0E-FED8-B473-0500A9940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720"/>
                <a:ext cx="698" cy="609"/>
              </a:xfrm>
              <a:custGeom>
                <a:avLst/>
                <a:gdLst>
                  <a:gd name="T0" fmla="*/ 2 w 514"/>
                  <a:gd name="T1" fmla="*/ 370 h 450"/>
                  <a:gd name="T2" fmla="*/ 1 w 514"/>
                  <a:gd name="T3" fmla="*/ 370 h 450"/>
                  <a:gd name="T4" fmla="*/ 0 w 514"/>
                  <a:gd name="T5" fmla="*/ 371 h 450"/>
                  <a:gd name="T6" fmla="*/ 0 w 514"/>
                  <a:gd name="T7" fmla="*/ 395 h 450"/>
                  <a:gd name="T8" fmla="*/ 2 w 514"/>
                  <a:gd name="T9" fmla="*/ 396 h 450"/>
                  <a:gd name="T10" fmla="*/ 134 w 514"/>
                  <a:gd name="T11" fmla="*/ 443 h 450"/>
                  <a:gd name="T12" fmla="*/ 136 w 514"/>
                  <a:gd name="T13" fmla="*/ 445 h 450"/>
                  <a:gd name="T14" fmla="*/ 140 w 514"/>
                  <a:gd name="T15" fmla="*/ 447 h 450"/>
                  <a:gd name="T16" fmla="*/ 143 w 514"/>
                  <a:gd name="T17" fmla="*/ 449 h 450"/>
                  <a:gd name="T18" fmla="*/ 143 w 514"/>
                  <a:gd name="T19" fmla="*/ 450 h 450"/>
                  <a:gd name="T20" fmla="*/ 143 w 514"/>
                  <a:gd name="T21" fmla="*/ 450 h 450"/>
                  <a:gd name="T22" fmla="*/ 144 w 514"/>
                  <a:gd name="T23" fmla="*/ 450 h 450"/>
                  <a:gd name="T24" fmla="*/ 145 w 514"/>
                  <a:gd name="T25" fmla="*/ 450 h 450"/>
                  <a:gd name="T26" fmla="*/ 146 w 514"/>
                  <a:gd name="T27" fmla="*/ 450 h 450"/>
                  <a:gd name="T28" fmla="*/ 253 w 514"/>
                  <a:gd name="T29" fmla="*/ 303 h 450"/>
                  <a:gd name="T30" fmla="*/ 344 w 514"/>
                  <a:gd name="T31" fmla="*/ 330 h 450"/>
                  <a:gd name="T32" fmla="*/ 478 w 514"/>
                  <a:gd name="T33" fmla="*/ 262 h 450"/>
                  <a:gd name="T34" fmla="*/ 507 w 514"/>
                  <a:gd name="T35" fmla="*/ 140 h 450"/>
                  <a:gd name="T36" fmla="*/ 441 w 514"/>
                  <a:gd name="T37" fmla="*/ 32 h 450"/>
                  <a:gd name="T38" fmla="*/ 344 w 514"/>
                  <a:gd name="T39" fmla="*/ 0 h 450"/>
                  <a:gd name="T40" fmla="*/ 211 w 514"/>
                  <a:gd name="T41" fmla="*/ 68 h 450"/>
                  <a:gd name="T42" fmla="*/ 242 w 514"/>
                  <a:gd name="T43" fmla="*/ 295 h 450"/>
                  <a:gd name="T44" fmla="*/ 150 w 514"/>
                  <a:gd name="T45" fmla="*/ 422 h 450"/>
                  <a:gd name="T46" fmla="*/ 2 w 514"/>
                  <a:gd name="T47" fmla="*/ 37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4" h="450">
                    <a:moveTo>
                      <a:pt x="2" y="370"/>
                    </a:moveTo>
                    <a:cubicBezTo>
                      <a:pt x="2" y="370"/>
                      <a:pt x="1" y="370"/>
                      <a:pt x="1" y="370"/>
                    </a:cubicBezTo>
                    <a:cubicBezTo>
                      <a:pt x="1" y="370"/>
                      <a:pt x="0" y="371"/>
                      <a:pt x="0" y="371"/>
                    </a:cubicBezTo>
                    <a:cubicBezTo>
                      <a:pt x="0" y="395"/>
                      <a:pt x="0" y="395"/>
                      <a:pt x="0" y="395"/>
                    </a:cubicBezTo>
                    <a:cubicBezTo>
                      <a:pt x="0" y="395"/>
                      <a:pt x="1" y="396"/>
                      <a:pt x="2" y="396"/>
                    </a:cubicBezTo>
                    <a:cubicBezTo>
                      <a:pt x="49" y="400"/>
                      <a:pt x="95" y="416"/>
                      <a:pt x="134" y="443"/>
                    </a:cubicBezTo>
                    <a:cubicBezTo>
                      <a:pt x="136" y="445"/>
                      <a:pt x="136" y="445"/>
                      <a:pt x="136" y="445"/>
                    </a:cubicBezTo>
                    <a:cubicBezTo>
                      <a:pt x="137" y="445"/>
                      <a:pt x="138" y="446"/>
                      <a:pt x="140" y="447"/>
                    </a:cubicBezTo>
                    <a:cubicBezTo>
                      <a:pt x="141" y="448"/>
                      <a:pt x="142" y="449"/>
                      <a:pt x="143" y="449"/>
                    </a:cubicBezTo>
                    <a:cubicBezTo>
                      <a:pt x="143" y="449"/>
                      <a:pt x="143" y="449"/>
                      <a:pt x="143" y="450"/>
                    </a:cubicBezTo>
                    <a:cubicBezTo>
                      <a:pt x="143" y="450"/>
                      <a:pt x="143" y="450"/>
                      <a:pt x="143" y="450"/>
                    </a:cubicBezTo>
                    <a:cubicBezTo>
                      <a:pt x="144" y="450"/>
                      <a:pt x="144" y="450"/>
                      <a:pt x="144" y="450"/>
                    </a:cubicBezTo>
                    <a:cubicBezTo>
                      <a:pt x="145" y="450"/>
                      <a:pt x="145" y="450"/>
                      <a:pt x="145" y="450"/>
                    </a:cubicBezTo>
                    <a:cubicBezTo>
                      <a:pt x="145" y="450"/>
                      <a:pt x="146" y="450"/>
                      <a:pt x="146" y="450"/>
                    </a:cubicBezTo>
                    <a:cubicBezTo>
                      <a:pt x="253" y="303"/>
                      <a:pt x="253" y="303"/>
                      <a:pt x="253" y="303"/>
                    </a:cubicBezTo>
                    <a:cubicBezTo>
                      <a:pt x="280" y="321"/>
                      <a:pt x="311" y="330"/>
                      <a:pt x="344" y="330"/>
                    </a:cubicBezTo>
                    <a:cubicBezTo>
                      <a:pt x="397" y="330"/>
                      <a:pt x="447" y="305"/>
                      <a:pt x="478" y="262"/>
                    </a:cubicBezTo>
                    <a:cubicBezTo>
                      <a:pt x="503" y="227"/>
                      <a:pt x="514" y="183"/>
                      <a:pt x="507" y="140"/>
                    </a:cubicBezTo>
                    <a:cubicBezTo>
                      <a:pt x="500" y="96"/>
                      <a:pt x="477" y="58"/>
                      <a:pt x="441" y="32"/>
                    </a:cubicBezTo>
                    <a:cubicBezTo>
                      <a:pt x="413" y="11"/>
                      <a:pt x="379" y="0"/>
                      <a:pt x="344" y="0"/>
                    </a:cubicBezTo>
                    <a:cubicBezTo>
                      <a:pt x="292" y="0"/>
                      <a:pt x="242" y="26"/>
                      <a:pt x="211" y="68"/>
                    </a:cubicBezTo>
                    <a:cubicBezTo>
                      <a:pt x="158" y="140"/>
                      <a:pt x="172" y="240"/>
                      <a:pt x="242" y="295"/>
                    </a:cubicBezTo>
                    <a:cubicBezTo>
                      <a:pt x="150" y="422"/>
                      <a:pt x="150" y="422"/>
                      <a:pt x="150" y="422"/>
                    </a:cubicBezTo>
                    <a:cubicBezTo>
                      <a:pt x="106" y="391"/>
                      <a:pt x="55" y="373"/>
                      <a:pt x="2" y="37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A6D083EF-1FAC-01B0-85D1-615D83882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1759"/>
                <a:ext cx="537" cy="763"/>
              </a:xfrm>
              <a:custGeom>
                <a:avLst/>
                <a:gdLst>
                  <a:gd name="T0" fmla="*/ 209 w 396"/>
                  <a:gd name="T1" fmla="*/ 233 h 563"/>
                  <a:gd name="T2" fmla="*/ 118 w 396"/>
                  <a:gd name="T3" fmla="*/ 261 h 563"/>
                  <a:gd name="T4" fmla="*/ 25 w 396"/>
                  <a:gd name="T5" fmla="*/ 134 h 563"/>
                  <a:gd name="T6" fmla="*/ 25 w 396"/>
                  <a:gd name="T7" fmla="*/ 134 h 563"/>
                  <a:gd name="T8" fmla="*/ 121 w 396"/>
                  <a:gd name="T9" fmla="*/ 10 h 563"/>
                  <a:gd name="T10" fmla="*/ 121 w 396"/>
                  <a:gd name="T11" fmla="*/ 9 h 563"/>
                  <a:gd name="T12" fmla="*/ 120 w 396"/>
                  <a:gd name="T13" fmla="*/ 8 h 563"/>
                  <a:gd name="T14" fmla="*/ 97 w 396"/>
                  <a:gd name="T15" fmla="*/ 0 h 563"/>
                  <a:gd name="T16" fmla="*/ 95 w 396"/>
                  <a:gd name="T17" fmla="*/ 1 h 563"/>
                  <a:gd name="T18" fmla="*/ 10 w 396"/>
                  <a:gd name="T19" fmla="*/ 113 h 563"/>
                  <a:gd name="T20" fmla="*/ 8 w 396"/>
                  <a:gd name="T21" fmla="*/ 114 h 563"/>
                  <a:gd name="T22" fmla="*/ 5 w 396"/>
                  <a:gd name="T23" fmla="*/ 117 h 563"/>
                  <a:gd name="T24" fmla="*/ 1 w 396"/>
                  <a:gd name="T25" fmla="*/ 119 h 563"/>
                  <a:gd name="T26" fmla="*/ 1 w 396"/>
                  <a:gd name="T27" fmla="*/ 119 h 563"/>
                  <a:gd name="T28" fmla="*/ 0 w 396"/>
                  <a:gd name="T29" fmla="*/ 121 h 563"/>
                  <a:gd name="T30" fmla="*/ 0 w 396"/>
                  <a:gd name="T31" fmla="*/ 122 h 563"/>
                  <a:gd name="T32" fmla="*/ 107 w 396"/>
                  <a:gd name="T33" fmla="*/ 269 h 563"/>
                  <a:gd name="T34" fmla="*/ 76 w 396"/>
                  <a:gd name="T35" fmla="*/ 495 h 563"/>
                  <a:gd name="T36" fmla="*/ 209 w 396"/>
                  <a:gd name="T37" fmla="*/ 563 h 563"/>
                  <a:gd name="T38" fmla="*/ 209 w 396"/>
                  <a:gd name="T39" fmla="*/ 563 h 563"/>
                  <a:gd name="T40" fmla="*/ 306 w 396"/>
                  <a:gd name="T41" fmla="*/ 532 h 563"/>
                  <a:gd name="T42" fmla="*/ 343 w 396"/>
                  <a:gd name="T43" fmla="*/ 301 h 563"/>
                  <a:gd name="T44" fmla="*/ 209 w 396"/>
                  <a:gd name="T45" fmla="*/ 233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6" h="563">
                    <a:moveTo>
                      <a:pt x="209" y="233"/>
                    </a:moveTo>
                    <a:cubicBezTo>
                      <a:pt x="176" y="233"/>
                      <a:pt x="145" y="243"/>
                      <a:pt x="118" y="261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68" y="102"/>
                      <a:pt x="101" y="59"/>
                      <a:pt x="121" y="10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7" y="0"/>
                      <a:pt x="96" y="1"/>
                      <a:pt x="95" y="1"/>
                    </a:cubicBezTo>
                    <a:cubicBezTo>
                      <a:pt x="77" y="45"/>
                      <a:pt x="48" y="84"/>
                      <a:pt x="10" y="113"/>
                    </a:cubicBezTo>
                    <a:cubicBezTo>
                      <a:pt x="8" y="114"/>
                      <a:pt x="8" y="114"/>
                      <a:pt x="8" y="114"/>
                    </a:cubicBezTo>
                    <a:cubicBezTo>
                      <a:pt x="7" y="115"/>
                      <a:pt x="6" y="116"/>
                      <a:pt x="5" y="117"/>
                    </a:cubicBezTo>
                    <a:cubicBezTo>
                      <a:pt x="3" y="118"/>
                      <a:pt x="2" y="118"/>
                      <a:pt x="1" y="119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0" y="120"/>
                      <a:pt x="0" y="120"/>
                      <a:pt x="0" y="121"/>
                    </a:cubicBezTo>
                    <a:cubicBezTo>
                      <a:pt x="0" y="121"/>
                      <a:pt x="0" y="121"/>
                      <a:pt x="0" y="122"/>
                    </a:cubicBezTo>
                    <a:cubicBezTo>
                      <a:pt x="107" y="269"/>
                      <a:pt x="107" y="269"/>
                      <a:pt x="107" y="269"/>
                    </a:cubicBezTo>
                    <a:cubicBezTo>
                      <a:pt x="37" y="324"/>
                      <a:pt x="23" y="423"/>
                      <a:pt x="76" y="495"/>
                    </a:cubicBezTo>
                    <a:cubicBezTo>
                      <a:pt x="107" y="538"/>
                      <a:pt x="157" y="563"/>
                      <a:pt x="209" y="563"/>
                    </a:cubicBezTo>
                    <a:cubicBezTo>
                      <a:pt x="209" y="563"/>
                      <a:pt x="209" y="563"/>
                      <a:pt x="209" y="563"/>
                    </a:cubicBezTo>
                    <a:cubicBezTo>
                      <a:pt x="244" y="563"/>
                      <a:pt x="278" y="552"/>
                      <a:pt x="306" y="532"/>
                    </a:cubicBezTo>
                    <a:cubicBezTo>
                      <a:pt x="380" y="478"/>
                      <a:pt x="396" y="375"/>
                      <a:pt x="343" y="301"/>
                    </a:cubicBezTo>
                    <a:cubicBezTo>
                      <a:pt x="312" y="259"/>
                      <a:pt x="262" y="233"/>
                      <a:pt x="209" y="233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397A2255-76B2-4FF4-9397-5A812E9E3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1523"/>
                <a:ext cx="702" cy="580"/>
              </a:xfrm>
              <a:custGeom>
                <a:avLst/>
                <a:gdLst>
                  <a:gd name="T0" fmla="*/ 384 w 518"/>
                  <a:gd name="T1" fmla="*/ 107 h 429"/>
                  <a:gd name="T2" fmla="*/ 333 w 518"/>
                  <a:gd name="T3" fmla="*/ 99 h 429"/>
                  <a:gd name="T4" fmla="*/ 178 w 518"/>
                  <a:gd name="T5" fmla="*/ 207 h 429"/>
                  <a:gd name="T6" fmla="*/ 29 w 518"/>
                  <a:gd name="T7" fmla="*/ 158 h 429"/>
                  <a:gd name="T8" fmla="*/ 33 w 518"/>
                  <a:gd name="T9" fmla="*/ 2 h 429"/>
                  <a:gd name="T10" fmla="*/ 32 w 518"/>
                  <a:gd name="T11" fmla="*/ 1 h 429"/>
                  <a:gd name="T12" fmla="*/ 31 w 518"/>
                  <a:gd name="T13" fmla="*/ 1 h 429"/>
                  <a:gd name="T14" fmla="*/ 9 w 518"/>
                  <a:gd name="T15" fmla="*/ 8 h 429"/>
                  <a:gd name="T16" fmla="*/ 7 w 518"/>
                  <a:gd name="T17" fmla="*/ 10 h 429"/>
                  <a:gd name="T18" fmla="*/ 4 w 518"/>
                  <a:gd name="T19" fmla="*/ 150 h 429"/>
                  <a:gd name="T20" fmla="*/ 3 w 518"/>
                  <a:gd name="T21" fmla="*/ 152 h 429"/>
                  <a:gd name="T22" fmla="*/ 2 w 518"/>
                  <a:gd name="T23" fmla="*/ 156 h 429"/>
                  <a:gd name="T24" fmla="*/ 0 w 518"/>
                  <a:gd name="T25" fmla="*/ 160 h 429"/>
                  <a:gd name="T26" fmla="*/ 0 w 518"/>
                  <a:gd name="T27" fmla="*/ 161 h 429"/>
                  <a:gd name="T28" fmla="*/ 0 w 518"/>
                  <a:gd name="T29" fmla="*/ 162 h 429"/>
                  <a:gd name="T30" fmla="*/ 1 w 518"/>
                  <a:gd name="T31" fmla="*/ 163 h 429"/>
                  <a:gd name="T32" fmla="*/ 174 w 518"/>
                  <a:gd name="T33" fmla="*/ 219 h 429"/>
                  <a:gd name="T34" fmla="*/ 282 w 518"/>
                  <a:gd name="T35" fmla="*/ 421 h 429"/>
                  <a:gd name="T36" fmla="*/ 333 w 518"/>
                  <a:gd name="T37" fmla="*/ 429 h 429"/>
                  <a:gd name="T38" fmla="*/ 333 w 518"/>
                  <a:gd name="T39" fmla="*/ 429 h 429"/>
                  <a:gd name="T40" fmla="*/ 490 w 518"/>
                  <a:gd name="T41" fmla="*/ 315 h 429"/>
                  <a:gd name="T42" fmla="*/ 384 w 518"/>
                  <a:gd name="T43" fmla="*/ 107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18" h="429">
                    <a:moveTo>
                      <a:pt x="384" y="107"/>
                    </a:moveTo>
                    <a:cubicBezTo>
                      <a:pt x="367" y="102"/>
                      <a:pt x="350" y="99"/>
                      <a:pt x="333" y="99"/>
                    </a:cubicBezTo>
                    <a:cubicBezTo>
                      <a:pt x="264" y="99"/>
                      <a:pt x="202" y="142"/>
                      <a:pt x="178" y="207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44" y="107"/>
                      <a:pt x="46" y="53"/>
                      <a:pt x="33" y="2"/>
                    </a:cubicBezTo>
                    <a:cubicBezTo>
                      <a:pt x="33" y="1"/>
                      <a:pt x="32" y="1"/>
                      <a:pt x="32" y="1"/>
                    </a:cubicBezTo>
                    <a:cubicBezTo>
                      <a:pt x="32" y="1"/>
                      <a:pt x="31" y="0"/>
                      <a:pt x="31" y="1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8"/>
                      <a:pt x="7" y="9"/>
                      <a:pt x="7" y="10"/>
                    </a:cubicBezTo>
                    <a:cubicBezTo>
                      <a:pt x="19" y="56"/>
                      <a:pt x="17" y="105"/>
                      <a:pt x="4" y="150"/>
                    </a:cubicBezTo>
                    <a:cubicBezTo>
                      <a:pt x="3" y="152"/>
                      <a:pt x="3" y="152"/>
                      <a:pt x="3" y="152"/>
                    </a:cubicBezTo>
                    <a:cubicBezTo>
                      <a:pt x="3" y="154"/>
                      <a:pt x="2" y="155"/>
                      <a:pt x="2" y="156"/>
                    </a:cubicBezTo>
                    <a:cubicBezTo>
                      <a:pt x="1" y="158"/>
                      <a:pt x="1" y="159"/>
                      <a:pt x="0" y="160"/>
                    </a:cubicBezTo>
                    <a:cubicBezTo>
                      <a:pt x="0" y="161"/>
                      <a:pt x="0" y="161"/>
                      <a:pt x="0" y="161"/>
                    </a:cubicBezTo>
                    <a:cubicBezTo>
                      <a:pt x="0" y="161"/>
                      <a:pt x="0" y="162"/>
                      <a:pt x="0" y="162"/>
                    </a:cubicBezTo>
                    <a:cubicBezTo>
                      <a:pt x="0" y="163"/>
                      <a:pt x="1" y="163"/>
                      <a:pt x="1" y="163"/>
                    </a:cubicBez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50" y="305"/>
                      <a:pt x="197" y="393"/>
                      <a:pt x="282" y="421"/>
                    </a:cubicBezTo>
                    <a:cubicBezTo>
                      <a:pt x="298" y="426"/>
                      <a:pt x="316" y="429"/>
                      <a:pt x="333" y="429"/>
                    </a:cubicBezTo>
                    <a:cubicBezTo>
                      <a:pt x="333" y="429"/>
                      <a:pt x="333" y="429"/>
                      <a:pt x="333" y="429"/>
                    </a:cubicBezTo>
                    <a:cubicBezTo>
                      <a:pt x="405" y="429"/>
                      <a:pt x="468" y="383"/>
                      <a:pt x="490" y="315"/>
                    </a:cubicBezTo>
                    <a:cubicBezTo>
                      <a:pt x="518" y="228"/>
                      <a:pt x="470" y="135"/>
                      <a:pt x="384" y="107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367643F3-ED9D-724B-98F4-CF8B6C990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9" y="1912"/>
                <a:ext cx="721" cy="610"/>
              </a:xfrm>
              <a:custGeom>
                <a:avLst/>
                <a:gdLst>
                  <a:gd name="T0" fmla="*/ 529 w 531"/>
                  <a:gd name="T1" fmla="*/ 81 h 450"/>
                  <a:gd name="T2" fmla="*/ 530 w 531"/>
                  <a:gd name="T3" fmla="*/ 81 h 450"/>
                  <a:gd name="T4" fmla="*/ 531 w 531"/>
                  <a:gd name="T5" fmla="*/ 79 h 450"/>
                  <a:gd name="T6" fmla="*/ 531 w 531"/>
                  <a:gd name="T7" fmla="*/ 56 h 450"/>
                  <a:gd name="T8" fmla="*/ 529 w 531"/>
                  <a:gd name="T9" fmla="*/ 54 h 450"/>
                  <a:gd name="T10" fmla="*/ 397 w 531"/>
                  <a:gd name="T11" fmla="*/ 7 h 450"/>
                  <a:gd name="T12" fmla="*/ 395 w 531"/>
                  <a:gd name="T13" fmla="*/ 6 h 450"/>
                  <a:gd name="T14" fmla="*/ 392 w 531"/>
                  <a:gd name="T15" fmla="*/ 4 h 450"/>
                  <a:gd name="T16" fmla="*/ 388 w 531"/>
                  <a:gd name="T17" fmla="*/ 1 h 450"/>
                  <a:gd name="T18" fmla="*/ 388 w 531"/>
                  <a:gd name="T19" fmla="*/ 1 h 450"/>
                  <a:gd name="T20" fmla="*/ 386 w 531"/>
                  <a:gd name="T21" fmla="*/ 0 h 450"/>
                  <a:gd name="T22" fmla="*/ 385 w 531"/>
                  <a:gd name="T23" fmla="*/ 1 h 450"/>
                  <a:gd name="T24" fmla="*/ 278 w 531"/>
                  <a:gd name="T25" fmla="*/ 148 h 450"/>
                  <a:gd name="T26" fmla="*/ 187 w 531"/>
                  <a:gd name="T27" fmla="*/ 120 h 450"/>
                  <a:gd name="T28" fmla="*/ 54 w 531"/>
                  <a:gd name="T29" fmla="*/ 188 h 450"/>
                  <a:gd name="T30" fmla="*/ 90 w 531"/>
                  <a:gd name="T31" fmla="*/ 419 h 450"/>
                  <a:gd name="T32" fmla="*/ 187 w 531"/>
                  <a:gd name="T33" fmla="*/ 450 h 450"/>
                  <a:gd name="T34" fmla="*/ 320 w 531"/>
                  <a:gd name="T35" fmla="*/ 382 h 450"/>
                  <a:gd name="T36" fmla="*/ 289 w 531"/>
                  <a:gd name="T37" fmla="*/ 156 h 450"/>
                  <a:gd name="T38" fmla="*/ 381 w 531"/>
                  <a:gd name="T39" fmla="*/ 29 h 450"/>
                  <a:gd name="T40" fmla="*/ 529 w 531"/>
                  <a:gd name="T41" fmla="*/ 81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31" h="450">
                    <a:moveTo>
                      <a:pt x="529" y="81"/>
                    </a:moveTo>
                    <a:cubicBezTo>
                      <a:pt x="529" y="81"/>
                      <a:pt x="530" y="81"/>
                      <a:pt x="530" y="81"/>
                    </a:cubicBezTo>
                    <a:cubicBezTo>
                      <a:pt x="531" y="80"/>
                      <a:pt x="531" y="80"/>
                      <a:pt x="531" y="79"/>
                    </a:cubicBezTo>
                    <a:cubicBezTo>
                      <a:pt x="531" y="56"/>
                      <a:pt x="531" y="56"/>
                      <a:pt x="531" y="56"/>
                    </a:cubicBezTo>
                    <a:cubicBezTo>
                      <a:pt x="531" y="55"/>
                      <a:pt x="530" y="54"/>
                      <a:pt x="529" y="54"/>
                    </a:cubicBezTo>
                    <a:cubicBezTo>
                      <a:pt x="482" y="51"/>
                      <a:pt x="436" y="34"/>
                      <a:pt x="397" y="7"/>
                    </a:cubicBezTo>
                    <a:cubicBezTo>
                      <a:pt x="395" y="6"/>
                      <a:pt x="395" y="6"/>
                      <a:pt x="395" y="6"/>
                    </a:cubicBezTo>
                    <a:cubicBezTo>
                      <a:pt x="394" y="5"/>
                      <a:pt x="393" y="5"/>
                      <a:pt x="392" y="4"/>
                    </a:cubicBezTo>
                    <a:cubicBezTo>
                      <a:pt x="390" y="3"/>
                      <a:pt x="389" y="2"/>
                      <a:pt x="388" y="1"/>
                    </a:cubicBezTo>
                    <a:cubicBezTo>
                      <a:pt x="388" y="1"/>
                      <a:pt x="388" y="1"/>
                      <a:pt x="388" y="1"/>
                    </a:cubicBezTo>
                    <a:cubicBezTo>
                      <a:pt x="387" y="0"/>
                      <a:pt x="387" y="0"/>
                      <a:pt x="386" y="0"/>
                    </a:cubicBezTo>
                    <a:cubicBezTo>
                      <a:pt x="386" y="0"/>
                      <a:pt x="386" y="1"/>
                      <a:pt x="385" y="1"/>
                    </a:cubicBezTo>
                    <a:cubicBezTo>
                      <a:pt x="278" y="148"/>
                      <a:pt x="278" y="148"/>
                      <a:pt x="278" y="148"/>
                    </a:cubicBezTo>
                    <a:cubicBezTo>
                      <a:pt x="251" y="130"/>
                      <a:pt x="220" y="120"/>
                      <a:pt x="187" y="120"/>
                    </a:cubicBezTo>
                    <a:cubicBezTo>
                      <a:pt x="134" y="120"/>
                      <a:pt x="84" y="146"/>
                      <a:pt x="54" y="188"/>
                    </a:cubicBezTo>
                    <a:cubicBezTo>
                      <a:pt x="0" y="262"/>
                      <a:pt x="16" y="365"/>
                      <a:pt x="90" y="419"/>
                    </a:cubicBezTo>
                    <a:cubicBezTo>
                      <a:pt x="118" y="439"/>
                      <a:pt x="152" y="450"/>
                      <a:pt x="187" y="450"/>
                    </a:cubicBezTo>
                    <a:cubicBezTo>
                      <a:pt x="240" y="450"/>
                      <a:pt x="289" y="425"/>
                      <a:pt x="320" y="382"/>
                    </a:cubicBezTo>
                    <a:cubicBezTo>
                      <a:pt x="373" y="310"/>
                      <a:pt x="359" y="211"/>
                      <a:pt x="289" y="156"/>
                    </a:cubicBezTo>
                    <a:cubicBezTo>
                      <a:pt x="381" y="29"/>
                      <a:pt x="381" y="29"/>
                      <a:pt x="381" y="29"/>
                    </a:cubicBezTo>
                    <a:cubicBezTo>
                      <a:pt x="425" y="59"/>
                      <a:pt x="476" y="77"/>
                      <a:pt x="529" y="81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A5A091D-B678-8C27-89EA-38EBA21C5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7" y="1657"/>
                <a:ext cx="792" cy="446"/>
              </a:xfrm>
              <a:custGeom>
                <a:avLst/>
                <a:gdLst>
                  <a:gd name="T0" fmla="*/ 329 w 584"/>
                  <a:gd name="T1" fmla="*/ 120 h 330"/>
                  <a:gd name="T2" fmla="*/ 329 w 584"/>
                  <a:gd name="T3" fmla="*/ 120 h 330"/>
                  <a:gd name="T4" fmla="*/ 478 w 584"/>
                  <a:gd name="T5" fmla="*/ 72 h 330"/>
                  <a:gd name="T6" fmla="*/ 567 w 584"/>
                  <a:gd name="T7" fmla="*/ 201 h 330"/>
                  <a:gd name="T8" fmla="*/ 568 w 584"/>
                  <a:gd name="T9" fmla="*/ 201 h 330"/>
                  <a:gd name="T10" fmla="*/ 569 w 584"/>
                  <a:gd name="T11" fmla="*/ 200 h 330"/>
                  <a:gd name="T12" fmla="*/ 583 w 584"/>
                  <a:gd name="T13" fmla="*/ 182 h 330"/>
                  <a:gd name="T14" fmla="*/ 583 w 584"/>
                  <a:gd name="T15" fmla="*/ 179 h 330"/>
                  <a:gd name="T16" fmla="*/ 503 w 584"/>
                  <a:gd name="T17" fmla="*/ 64 h 330"/>
                  <a:gd name="T18" fmla="*/ 503 w 584"/>
                  <a:gd name="T19" fmla="*/ 61 h 330"/>
                  <a:gd name="T20" fmla="*/ 501 w 584"/>
                  <a:gd name="T21" fmla="*/ 57 h 330"/>
                  <a:gd name="T22" fmla="*/ 500 w 584"/>
                  <a:gd name="T23" fmla="*/ 53 h 330"/>
                  <a:gd name="T24" fmla="*/ 500 w 584"/>
                  <a:gd name="T25" fmla="*/ 53 h 330"/>
                  <a:gd name="T26" fmla="*/ 499 w 584"/>
                  <a:gd name="T27" fmla="*/ 52 h 330"/>
                  <a:gd name="T28" fmla="*/ 498 w 584"/>
                  <a:gd name="T29" fmla="*/ 52 h 330"/>
                  <a:gd name="T30" fmla="*/ 325 w 584"/>
                  <a:gd name="T31" fmla="*/ 108 h 330"/>
                  <a:gd name="T32" fmla="*/ 170 w 584"/>
                  <a:gd name="T33" fmla="*/ 0 h 330"/>
                  <a:gd name="T34" fmla="*/ 119 w 584"/>
                  <a:gd name="T35" fmla="*/ 8 h 330"/>
                  <a:gd name="T36" fmla="*/ 23 w 584"/>
                  <a:gd name="T37" fmla="*/ 90 h 330"/>
                  <a:gd name="T38" fmla="*/ 13 w 584"/>
                  <a:gd name="T39" fmla="*/ 216 h 330"/>
                  <a:gd name="T40" fmla="*/ 170 w 584"/>
                  <a:gd name="T41" fmla="*/ 330 h 330"/>
                  <a:gd name="T42" fmla="*/ 170 w 584"/>
                  <a:gd name="T43" fmla="*/ 330 h 330"/>
                  <a:gd name="T44" fmla="*/ 221 w 584"/>
                  <a:gd name="T45" fmla="*/ 322 h 330"/>
                  <a:gd name="T46" fmla="*/ 329 w 584"/>
                  <a:gd name="T47" fmla="*/ 12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84" h="330">
                    <a:moveTo>
                      <a:pt x="329" y="120"/>
                    </a:moveTo>
                    <a:cubicBezTo>
                      <a:pt x="329" y="120"/>
                      <a:pt x="329" y="120"/>
                      <a:pt x="329" y="120"/>
                    </a:cubicBezTo>
                    <a:cubicBezTo>
                      <a:pt x="478" y="72"/>
                      <a:pt x="478" y="72"/>
                      <a:pt x="478" y="72"/>
                    </a:cubicBezTo>
                    <a:cubicBezTo>
                      <a:pt x="496" y="122"/>
                      <a:pt x="526" y="167"/>
                      <a:pt x="567" y="201"/>
                    </a:cubicBezTo>
                    <a:cubicBezTo>
                      <a:pt x="567" y="201"/>
                      <a:pt x="568" y="201"/>
                      <a:pt x="568" y="201"/>
                    </a:cubicBezTo>
                    <a:cubicBezTo>
                      <a:pt x="569" y="201"/>
                      <a:pt x="569" y="201"/>
                      <a:pt x="569" y="200"/>
                    </a:cubicBezTo>
                    <a:cubicBezTo>
                      <a:pt x="583" y="182"/>
                      <a:pt x="583" y="182"/>
                      <a:pt x="583" y="182"/>
                    </a:cubicBezTo>
                    <a:cubicBezTo>
                      <a:pt x="584" y="181"/>
                      <a:pt x="584" y="180"/>
                      <a:pt x="583" y="179"/>
                    </a:cubicBezTo>
                    <a:cubicBezTo>
                      <a:pt x="547" y="148"/>
                      <a:pt x="519" y="108"/>
                      <a:pt x="503" y="64"/>
                    </a:cubicBezTo>
                    <a:cubicBezTo>
                      <a:pt x="503" y="61"/>
                      <a:pt x="503" y="61"/>
                      <a:pt x="503" y="61"/>
                    </a:cubicBezTo>
                    <a:cubicBezTo>
                      <a:pt x="502" y="60"/>
                      <a:pt x="502" y="59"/>
                      <a:pt x="501" y="57"/>
                    </a:cubicBezTo>
                    <a:cubicBezTo>
                      <a:pt x="501" y="56"/>
                      <a:pt x="500" y="55"/>
                      <a:pt x="500" y="53"/>
                    </a:cubicBezTo>
                    <a:cubicBezTo>
                      <a:pt x="500" y="53"/>
                      <a:pt x="500" y="53"/>
                      <a:pt x="500" y="53"/>
                    </a:cubicBezTo>
                    <a:cubicBezTo>
                      <a:pt x="500" y="52"/>
                      <a:pt x="499" y="52"/>
                      <a:pt x="499" y="52"/>
                    </a:cubicBezTo>
                    <a:cubicBezTo>
                      <a:pt x="499" y="52"/>
                      <a:pt x="498" y="51"/>
                      <a:pt x="498" y="52"/>
                    </a:cubicBezTo>
                    <a:cubicBezTo>
                      <a:pt x="325" y="108"/>
                      <a:pt x="325" y="108"/>
                      <a:pt x="325" y="108"/>
                    </a:cubicBezTo>
                    <a:cubicBezTo>
                      <a:pt x="301" y="43"/>
                      <a:pt x="239" y="0"/>
                      <a:pt x="170" y="0"/>
                    </a:cubicBezTo>
                    <a:cubicBezTo>
                      <a:pt x="153" y="0"/>
                      <a:pt x="136" y="3"/>
                      <a:pt x="119" y="8"/>
                    </a:cubicBezTo>
                    <a:cubicBezTo>
                      <a:pt x="77" y="22"/>
                      <a:pt x="43" y="51"/>
                      <a:pt x="23" y="90"/>
                    </a:cubicBezTo>
                    <a:cubicBezTo>
                      <a:pt x="3" y="129"/>
                      <a:pt x="0" y="174"/>
                      <a:pt x="13" y="216"/>
                    </a:cubicBezTo>
                    <a:cubicBezTo>
                      <a:pt x="36" y="284"/>
                      <a:pt x="99" y="330"/>
                      <a:pt x="170" y="330"/>
                    </a:cubicBezTo>
                    <a:cubicBezTo>
                      <a:pt x="170" y="330"/>
                      <a:pt x="170" y="330"/>
                      <a:pt x="170" y="330"/>
                    </a:cubicBezTo>
                    <a:cubicBezTo>
                      <a:pt x="187" y="330"/>
                      <a:pt x="205" y="327"/>
                      <a:pt x="221" y="322"/>
                    </a:cubicBezTo>
                    <a:cubicBezTo>
                      <a:pt x="306" y="294"/>
                      <a:pt x="353" y="206"/>
                      <a:pt x="329" y="12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581A596C-D4DA-D11E-873A-AE3550BCD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3" y="1933"/>
                <a:ext cx="446" cy="748"/>
              </a:xfrm>
              <a:custGeom>
                <a:avLst/>
                <a:gdLst>
                  <a:gd name="T0" fmla="*/ 171 w 329"/>
                  <a:gd name="T1" fmla="*/ 224 h 553"/>
                  <a:gd name="T2" fmla="*/ 171 w 329"/>
                  <a:gd name="T3" fmla="*/ 67 h 553"/>
                  <a:gd name="T4" fmla="*/ 321 w 329"/>
                  <a:gd name="T5" fmla="*/ 22 h 553"/>
                  <a:gd name="T6" fmla="*/ 322 w 329"/>
                  <a:gd name="T7" fmla="*/ 21 h 553"/>
                  <a:gd name="T8" fmla="*/ 322 w 329"/>
                  <a:gd name="T9" fmla="*/ 20 h 553"/>
                  <a:gd name="T10" fmla="*/ 308 w 329"/>
                  <a:gd name="T11" fmla="*/ 1 h 553"/>
                  <a:gd name="T12" fmla="*/ 306 w 329"/>
                  <a:gd name="T13" fmla="*/ 0 h 553"/>
                  <a:gd name="T14" fmla="*/ 171 w 329"/>
                  <a:gd name="T15" fmla="*/ 40 h 553"/>
                  <a:gd name="T16" fmla="*/ 169 w 329"/>
                  <a:gd name="T17" fmla="*/ 40 h 553"/>
                  <a:gd name="T18" fmla="*/ 160 w 329"/>
                  <a:gd name="T19" fmla="*/ 40 h 553"/>
                  <a:gd name="T20" fmla="*/ 160 w 329"/>
                  <a:gd name="T21" fmla="*/ 40 h 553"/>
                  <a:gd name="T22" fmla="*/ 158 w 329"/>
                  <a:gd name="T23" fmla="*/ 41 h 553"/>
                  <a:gd name="T24" fmla="*/ 158 w 329"/>
                  <a:gd name="T25" fmla="*/ 42 h 553"/>
                  <a:gd name="T26" fmla="*/ 158 w 329"/>
                  <a:gd name="T27" fmla="*/ 224 h 553"/>
                  <a:gd name="T28" fmla="*/ 0 w 329"/>
                  <a:gd name="T29" fmla="*/ 388 h 553"/>
                  <a:gd name="T30" fmla="*/ 165 w 329"/>
                  <a:gd name="T31" fmla="*/ 553 h 553"/>
                  <a:gd name="T32" fmla="*/ 329 w 329"/>
                  <a:gd name="T33" fmla="*/ 388 h 553"/>
                  <a:gd name="T34" fmla="*/ 171 w 329"/>
                  <a:gd name="T35" fmla="*/ 22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9" h="553">
                    <a:moveTo>
                      <a:pt x="171" y="224"/>
                    </a:moveTo>
                    <a:cubicBezTo>
                      <a:pt x="171" y="67"/>
                      <a:pt x="171" y="67"/>
                      <a:pt x="171" y="67"/>
                    </a:cubicBezTo>
                    <a:cubicBezTo>
                      <a:pt x="224" y="65"/>
                      <a:pt x="276" y="50"/>
                      <a:pt x="321" y="22"/>
                    </a:cubicBezTo>
                    <a:cubicBezTo>
                      <a:pt x="322" y="22"/>
                      <a:pt x="322" y="21"/>
                      <a:pt x="322" y="21"/>
                    </a:cubicBezTo>
                    <a:cubicBezTo>
                      <a:pt x="322" y="21"/>
                      <a:pt x="322" y="20"/>
                      <a:pt x="322" y="20"/>
                    </a:cubicBezTo>
                    <a:cubicBezTo>
                      <a:pt x="308" y="1"/>
                      <a:pt x="308" y="1"/>
                      <a:pt x="308" y="1"/>
                    </a:cubicBezTo>
                    <a:cubicBezTo>
                      <a:pt x="307" y="0"/>
                      <a:pt x="306" y="0"/>
                      <a:pt x="306" y="0"/>
                    </a:cubicBezTo>
                    <a:cubicBezTo>
                      <a:pt x="265" y="25"/>
                      <a:pt x="219" y="39"/>
                      <a:pt x="171" y="40"/>
                    </a:cubicBezTo>
                    <a:cubicBezTo>
                      <a:pt x="169" y="40"/>
                      <a:pt x="169" y="40"/>
                      <a:pt x="169" y="40"/>
                    </a:cubicBezTo>
                    <a:cubicBezTo>
                      <a:pt x="166" y="40"/>
                      <a:pt x="163" y="40"/>
                      <a:pt x="160" y="40"/>
                    </a:cubicBezTo>
                    <a:cubicBezTo>
                      <a:pt x="160" y="40"/>
                      <a:pt x="160" y="40"/>
                      <a:pt x="160" y="40"/>
                    </a:cubicBezTo>
                    <a:cubicBezTo>
                      <a:pt x="159" y="40"/>
                      <a:pt x="159" y="40"/>
                      <a:pt x="158" y="41"/>
                    </a:cubicBezTo>
                    <a:cubicBezTo>
                      <a:pt x="158" y="41"/>
                      <a:pt x="158" y="41"/>
                      <a:pt x="158" y="42"/>
                    </a:cubicBezTo>
                    <a:cubicBezTo>
                      <a:pt x="158" y="224"/>
                      <a:pt x="158" y="224"/>
                      <a:pt x="158" y="224"/>
                    </a:cubicBezTo>
                    <a:cubicBezTo>
                      <a:pt x="69" y="227"/>
                      <a:pt x="0" y="299"/>
                      <a:pt x="0" y="388"/>
                    </a:cubicBezTo>
                    <a:cubicBezTo>
                      <a:pt x="0" y="479"/>
                      <a:pt x="74" y="553"/>
                      <a:pt x="165" y="553"/>
                    </a:cubicBezTo>
                    <a:cubicBezTo>
                      <a:pt x="255" y="553"/>
                      <a:pt x="329" y="479"/>
                      <a:pt x="329" y="388"/>
                    </a:cubicBezTo>
                    <a:cubicBezTo>
                      <a:pt x="329" y="299"/>
                      <a:pt x="260" y="227"/>
                      <a:pt x="171" y="224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3B6AFA3-DD08-C412-1FBB-E12E774B7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560"/>
                <a:ext cx="1724" cy="694"/>
              </a:xfrm>
              <a:custGeom>
                <a:avLst/>
                <a:gdLst>
                  <a:gd name="T0" fmla="*/ 1107 w 1271"/>
                  <a:gd name="T1" fmla="*/ 0 h 513"/>
                  <a:gd name="T2" fmla="*/ 942 w 1271"/>
                  <a:gd name="T3" fmla="*/ 165 h 513"/>
                  <a:gd name="T4" fmla="*/ 1100 w 1271"/>
                  <a:gd name="T5" fmla="*/ 330 h 513"/>
                  <a:gd name="T6" fmla="*/ 1100 w 1271"/>
                  <a:gd name="T7" fmla="*/ 487 h 513"/>
                  <a:gd name="T8" fmla="*/ 476 w 1271"/>
                  <a:gd name="T9" fmla="*/ 487 h 513"/>
                  <a:gd name="T10" fmla="*/ 444 w 1271"/>
                  <a:gd name="T11" fmla="*/ 487 h 513"/>
                  <a:gd name="T12" fmla="*/ 0 w 1271"/>
                  <a:gd name="T13" fmla="*/ 487 h 513"/>
                  <a:gd name="T14" fmla="*/ 0 w 1271"/>
                  <a:gd name="T15" fmla="*/ 513 h 513"/>
                  <a:gd name="T16" fmla="*/ 444 w 1271"/>
                  <a:gd name="T17" fmla="*/ 513 h 513"/>
                  <a:gd name="T18" fmla="*/ 476 w 1271"/>
                  <a:gd name="T19" fmla="*/ 513 h 513"/>
                  <a:gd name="T20" fmla="*/ 1107 w 1271"/>
                  <a:gd name="T21" fmla="*/ 513 h 513"/>
                  <a:gd name="T22" fmla="*/ 1111 w 1271"/>
                  <a:gd name="T23" fmla="*/ 513 h 513"/>
                  <a:gd name="T24" fmla="*/ 1111 w 1271"/>
                  <a:gd name="T25" fmla="*/ 513 h 513"/>
                  <a:gd name="T26" fmla="*/ 1111 w 1271"/>
                  <a:gd name="T27" fmla="*/ 513 h 513"/>
                  <a:gd name="T28" fmla="*/ 1111 w 1271"/>
                  <a:gd name="T29" fmla="*/ 513 h 513"/>
                  <a:gd name="T30" fmla="*/ 1113 w 1271"/>
                  <a:gd name="T31" fmla="*/ 513 h 513"/>
                  <a:gd name="T32" fmla="*/ 1113 w 1271"/>
                  <a:gd name="T33" fmla="*/ 512 h 513"/>
                  <a:gd name="T34" fmla="*/ 1113 w 1271"/>
                  <a:gd name="T35" fmla="*/ 330 h 513"/>
                  <a:gd name="T36" fmla="*/ 1271 w 1271"/>
                  <a:gd name="T37" fmla="*/ 165 h 513"/>
                  <a:gd name="T38" fmla="*/ 1107 w 1271"/>
                  <a:gd name="T39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71" h="513">
                    <a:moveTo>
                      <a:pt x="1107" y="0"/>
                    </a:moveTo>
                    <a:cubicBezTo>
                      <a:pt x="1016" y="0"/>
                      <a:pt x="942" y="74"/>
                      <a:pt x="942" y="165"/>
                    </a:cubicBezTo>
                    <a:cubicBezTo>
                      <a:pt x="942" y="254"/>
                      <a:pt x="1011" y="327"/>
                      <a:pt x="1100" y="330"/>
                    </a:cubicBezTo>
                    <a:cubicBezTo>
                      <a:pt x="1100" y="487"/>
                      <a:pt x="1100" y="487"/>
                      <a:pt x="1100" y="487"/>
                    </a:cubicBezTo>
                    <a:cubicBezTo>
                      <a:pt x="476" y="487"/>
                      <a:pt x="476" y="487"/>
                      <a:pt x="476" y="487"/>
                    </a:cubicBezTo>
                    <a:cubicBezTo>
                      <a:pt x="444" y="487"/>
                      <a:pt x="444" y="487"/>
                      <a:pt x="444" y="487"/>
                    </a:cubicBezTo>
                    <a:cubicBezTo>
                      <a:pt x="0" y="487"/>
                      <a:pt x="0" y="487"/>
                      <a:pt x="0" y="487"/>
                    </a:cubicBezTo>
                    <a:cubicBezTo>
                      <a:pt x="0" y="513"/>
                      <a:pt x="0" y="513"/>
                      <a:pt x="0" y="513"/>
                    </a:cubicBezTo>
                    <a:cubicBezTo>
                      <a:pt x="444" y="513"/>
                      <a:pt x="444" y="513"/>
                      <a:pt x="444" y="513"/>
                    </a:cubicBezTo>
                    <a:cubicBezTo>
                      <a:pt x="476" y="513"/>
                      <a:pt x="476" y="513"/>
                      <a:pt x="476" y="513"/>
                    </a:cubicBezTo>
                    <a:cubicBezTo>
                      <a:pt x="1107" y="513"/>
                      <a:pt x="1107" y="513"/>
                      <a:pt x="1107" y="513"/>
                    </a:cubicBezTo>
                    <a:cubicBezTo>
                      <a:pt x="1108" y="513"/>
                      <a:pt x="1109" y="513"/>
                      <a:pt x="1111" y="513"/>
                    </a:cubicBezTo>
                    <a:cubicBezTo>
                      <a:pt x="1111" y="513"/>
                      <a:pt x="1111" y="513"/>
                      <a:pt x="1111" y="513"/>
                    </a:cubicBezTo>
                    <a:cubicBezTo>
                      <a:pt x="1111" y="513"/>
                      <a:pt x="1111" y="513"/>
                      <a:pt x="1111" y="513"/>
                    </a:cubicBezTo>
                    <a:cubicBezTo>
                      <a:pt x="1111" y="513"/>
                      <a:pt x="1111" y="513"/>
                      <a:pt x="1111" y="513"/>
                    </a:cubicBezTo>
                    <a:cubicBezTo>
                      <a:pt x="1112" y="513"/>
                      <a:pt x="1112" y="513"/>
                      <a:pt x="1113" y="513"/>
                    </a:cubicBezTo>
                    <a:cubicBezTo>
                      <a:pt x="1113" y="513"/>
                      <a:pt x="1113" y="512"/>
                      <a:pt x="1113" y="512"/>
                    </a:cubicBezTo>
                    <a:cubicBezTo>
                      <a:pt x="1113" y="330"/>
                      <a:pt x="1113" y="330"/>
                      <a:pt x="1113" y="330"/>
                    </a:cubicBezTo>
                    <a:cubicBezTo>
                      <a:pt x="1202" y="327"/>
                      <a:pt x="1271" y="254"/>
                      <a:pt x="1271" y="165"/>
                    </a:cubicBezTo>
                    <a:cubicBezTo>
                      <a:pt x="1271" y="74"/>
                      <a:pt x="1197" y="0"/>
                      <a:pt x="1107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617450-5A38-C3FB-0C15-C2C59CFCD607}"/>
                </a:ext>
              </a:extLst>
            </p:cNvPr>
            <p:cNvSpPr txBox="1"/>
            <p:nvPr/>
          </p:nvSpPr>
          <p:spPr>
            <a:xfrm>
              <a:off x="3424444" y="1162331"/>
              <a:ext cx="2129549" cy="421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 Skills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Inference Hub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A629D5-32CB-DEAF-DF29-47C5A8A4C222}"/>
                </a:ext>
              </a:extLst>
            </p:cNvPr>
            <p:cNvSpPr/>
            <p:nvPr/>
          </p:nvSpPr>
          <p:spPr>
            <a:xfrm>
              <a:off x="7102688" y="1289180"/>
              <a:ext cx="1761860" cy="4425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rPr>
                <a:t>Conversational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rPr>
                <a:t>Al Interview - Tara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90B606-E7E5-B5CD-59A0-175E984520DC}"/>
                </a:ext>
              </a:extLst>
            </p:cNvPr>
            <p:cNvSpPr/>
            <p:nvPr/>
          </p:nvSpPr>
          <p:spPr>
            <a:xfrm>
              <a:off x="7608089" y="2062912"/>
              <a:ext cx="2183464" cy="421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Al-Enhanced</a:t>
              </a:r>
              <a:b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Assessment Solutions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Calibri"/>
                </a:rPr>
                <a:t>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2982A6-3FFC-B325-66B2-22429D64AAA0}"/>
                </a:ext>
              </a:extLst>
            </p:cNvPr>
            <p:cNvSpPr/>
            <p:nvPr/>
          </p:nvSpPr>
          <p:spPr>
            <a:xfrm>
              <a:off x="7608086" y="2927196"/>
              <a:ext cx="1731353" cy="44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AI-Driven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4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Career</a:t>
              </a:r>
              <a:r>
                <a:rPr kumimoji="0" lang="nb-NO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 </a:t>
              </a:r>
              <a:r>
                <a:rPr kumimoji="0" lang="nb-NO" sz="14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Paths</a:t>
              </a:r>
              <a:endParaRPr kumimoji="0" lang="nb-N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4D047E-4349-BC0E-E4B1-4C20383C4AC0}"/>
                </a:ext>
              </a:extLst>
            </p:cNvPr>
            <p:cNvSpPr/>
            <p:nvPr/>
          </p:nvSpPr>
          <p:spPr>
            <a:xfrm>
              <a:off x="7082519" y="3817008"/>
              <a:ext cx="1856899" cy="44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Al-Powered Job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Profile Creation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D09C78-5B65-B32C-AF3C-56828A1DAAA5}"/>
                </a:ext>
              </a:extLst>
            </p:cNvPr>
            <p:cNvSpPr/>
            <p:nvPr/>
          </p:nvSpPr>
          <p:spPr>
            <a:xfrm>
              <a:off x="5230107" y="4438352"/>
              <a:ext cx="1454157" cy="44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Automated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Skills Rubric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2D9315-265C-D787-582B-8429508D20BD}"/>
                </a:ext>
              </a:extLst>
            </p:cNvPr>
            <p:cNvSpPr/>
            <p:nvPr/>
          </p:nvSpPr>
          <p:spPr>
            <a:xfrm>
              <a:off x="3155901" y="3933359"/>
              <a:ext cx="1689528" cy="44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Adjacent Learning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Recommendations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7E4A78-9D64-9240-B474-83C888F40E12}"/>
                </a:ext>
              </a:extLst>
            </p:cNvPr>
            <p:cNvSpPr/>
            <p:nvPr/>
          </p:nvSpPr>
          <p:spPr>
            <a:xfrm>
              <a:off x="2891589" y="2977877"/>
              <a:ext cx="1408067" cy="44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Adjacent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Calibri"/>
                </a:rPr>
                <a:t>Skills Inference</a:t>
              </a:r>
            </a:p>
          </p:txBody>
        </p:sp>
      </p:grpSp>
      <p:sp>
        <p:nvSpPr>
          <p:cNvPr id="34" name="Freeform: Shape 119">
            <a:extLst>
              <a:ext uri="{FF2B5EF4-FFF2-40B4-BE49-F238E27FC236}">
                <a16:creationId xmlns:a16="http://schemas.microsoft.com/office/drawing/2014/main" id="{454FDB91-A3B7-3C5C-B245-54380B8EC22A}"/>
              </a:ext>
            </a:extLst>
          </p:cNvPr>
          <p:cNvSpPr/>
          <p:nvPr/>
        </p:nvSpPr>
        <p:spPr>
          <a:xfrm>
            <a:off x="7089205" y="2473359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Freeform: Shape 119">
            <a:extLst>
              <a:ext uri="{FF2B5EF4-FFF2-40B4-BE49-F238E27FC236}">
                <a16:creationId xmlns:a16="http://schemas.microsoft.com/office/drawing/2014/main" id="{4106F461-2337-03CD-51C1-F041A3D41831}"/>
              </a:ext>
            </a:extLst>
          </p:cNvPr>
          <p:cNvSpPr/>
          <p:nvPr/>
        </p:nvSpPr>
        <p:spPr>
          <a:xfrm>
            <a:off x="7084271" y="3495596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Freeform: Shape 119">
            <a:extLst>
              <a:ext uri="{FF2B5EF4-FFF2-40B4-BE49-F238E27FC236}">
                <a16:creationId xmlns:a16="http://schemas.microsoft.com/office/drawing/2014/main" id="{FA9FA479-4D7D-AED1-3E01-4ED599FBE7CF}"/>
              </a:ext>
            </a:extLst>
          </p:cNvPr>
          <p:cNvSpPr/>
          <p:nvPr/>
        </p:nvSpPr>
        <p:spPr>
          <a:xfrm>
            <a:off x="6488476" y="4316027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Freeform: Shape 119">
            <a:extLst>
              <a:ext uri="{FF2B5EF4-FFF2-40B4-BE49-F238E27FC236}">
                <a16:creationId xmlns:a16="http://schemas.microsoft.com/office/drawing/2014/main" id="{68D27CFC-AED1-0B0C-CFD8-7B100AEFEFC5}"/>
              </a:ext>
            </a:extLst>
          </p:cNvPr>
          <p:cNvSpPr/>
          <p:nvPr/>
        </p:nvSpPr>
        <p:spPr>
          <a:xfrm>
            <a:off x="5519637" y="4631731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Freeform: Shape 119">
            <a:extLst>
              <a:ext uri="{FF2B5EF4-FFF2-40B4-BE49-F238E27FC236}">
                <a16:creationId xmlns:a16="http://schemas.microsoft.com/office/drawing/2014/main" id="{1646E5C0-8417-187B-3A31-C017BE516B10}"/>
              </a:ext>
            </a:extLst>
          </p:cNvPr>
          <p:cNvSpPr/>
          <p:nvPr/>
        </p:nvSpPr>
        <p:spPr>
          <a:xfrm>
            <a:off x="4550798" y="4320320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Freeform: Shape 119">
            <a:extLst>
              <a:ext uri="{FF2B5EF4-FFF2-40B4-BE49-F238E27FC236}">
                <a16:creationId xmlns:a16="http://schemas.microsoft.com/office/drawing/2014/main" id="{8B110C0A-8195-FFB9-1318-DF33208D83CD}"/>
              </a:ext>
            </a:extLst>
          </p:cNvPr>
          <p:cNvSpPr/>
          <p:nvPr/>
        </p:nvSpPr>
        <p:spPr>
          <a:xfrm>
            <a:off x="3947381" y="3491303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Freeform: Shape 119">
            <a:extLst>
              <a:ext uri="{FF2B5EF4-FFF2-40B4-BE49-F238E27FC236}">
                <a16:creationId xmlns:a16="http://schemas.microsoft.com/office/drawing/2014/main" id="{988BC759-E279-1416-4DD1-198B80E51C33}"/>
              </a:ext>
            </a:extLst>
          </p:cNvPr>
          <p:cNvSpPr/>
          <p:nvPr/>
        </p:nvSpPr>
        <p:spPr>
          <a:xfrm>
            <a:off x="6492769" y="1646414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339C4BA-8428-3E31-6BA6-F26B0B964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20" y="1790166"/>
            <a:ext cx="376129" cy="37713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D312EF-8C78-8BC3-A01A-82436A901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482" y="2621510"/>
            <a:ext cx="436197" cy="38433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C4F072F-F0FB-DC77-1DAB-CAB75FB17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289" y="3622216"/>
            <a:ext cx="437884" cy="43904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C6D8B5C-D74B-167E-8335-CEAFBF60B6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823" y="4461237"/>
            <a:ext cx="395887" cy="39795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4CD8255-DD53-6237-2A28-802D357533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1278" y="4782830"/>
            <a:ext cx="376308" cy="37630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A86A93F-3CC8-981B-1C76-AC4FA1FCE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842" y="4459136"/>
            <a:ext cx="378538" cy="36868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4E1C9E7-F6F8-B16E-331F-05BCFC89E8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3306" y="3632179"/>
            <a:ext cx="395242" cy="432441"/>
          </a:xfrm>
          <a:prstGeom prst="rect">
            <a:avLst/>
          </a:prstGeom>
        </p:spPr>
      </p:pic>
      <p:sp>
        <p:nvSpPr>
          <p:cNvPr id="63" name="Freeform: Shape 119">
            <a:extLst>
              <a:ext uri="{FF2B5EF4-FFF2-40B4-BE49-F238E27FC236}">
                <a16:creationId xmlns:a16="http://schemas.microsoft.com/office/drawing/2014/main" id="{6DA54A41-5243-6E27-2DC1-EAB3404BE267}"/>
              </a:ext>
            </a:extLst>
          </p:cNvPr>
          <p:cNvSpPr/>
          <p:nvPr/>
        </p:nvSpPr>
        <p:spPr>
          <a:xfrm>
            <a:off x="5520720" y="1331099"/>
            <a:ext cx="687092" cy="687092"/>
          </a:xfrm>
          <a:custGeom>
            <a:avLst/>
            <a:gdLst>
              <a:gd name="connsiteX0" fmla="*/ 291558 w 583115"/>
              <a:gd name="connsiteY0" fmla="*/ 0 h 583115"/>
              <a:gd name="connsiteX1" fmla="*/ 583116 w 583115"/>
              <a:gd name="connsiteY1" fmla="*/ 291558 h 583115"/>
              <a:gd name="connsiteX2" fmla="*/ 291558 w 583115"/>
              <a:gd name="connsiteY2" fmla="*/ 583115 h 583115"/>
              <a:gd name="connsiteX3" fmla="*/ 0 w 583115"/>
              <a:gd name="connsiteY3" fmla="*/ 291558 h 583115"/>
              <a:gd name="connsiteX4" fmla="*/ 291558 w 583115"/>
              <a:gd name="connsiteY4" fmla="*/ 0 h 5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115" h="583115">
                <a:moveTo>
                  <a:pt x="291558" y="0"/>
                </a:moveTo>
                <a:cubicBezTo>
                  <a:pt x="452345" y="0"/>
                  <a:pt x="583116" y="130770"/>
                  <a:pt x="583116" y="291558"/>
                </a:cubicBezTo>
                <a:cubicBezTo>
                  <a:pt x="583116" y="452345"/>
                  <a:pt x="452345" y="583115"/>
                  <a:pt x="291558" y="583115"/>
                </a:cubicBezTo>
                <a:cubicBezTo>
                  <a:pt x="130770" y="583115"/>
                  <a:pt x="0" y="452345"/>
                  <a:pt x="0" y="291558"/>
                </a:cubicBezTo>
                <a:cubicBezTo>
                  <a:pt x="0" y="130770"/>
                  <a:pt x="130770" y="0"/>
                  <a:pt x="291558" y="0"/>
                </a:cubicBezTo>
                <a:close/>
              </a:path>
            </a:pathLst>
          </a:custGeom>
          <a:solidFill>
            <a:srgbClr val="FFFFFF"/>
          </a:solidFill>
          <a:ln w="14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1025">
            <a:extLst>
              <a:ext uri="{FF2B5EF4-FFF2-40B4-BE49-F238E27FC236}">
                <a16:creationId xmlns:a16="http://schemas.microsoft.com/office/drawing/2014/main" id="{AB132125-8FB4-9FD1-34EF-50BE70EEC8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8594" y="1460630"/>
            <a:ext cx="437069" cy="435931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F461CEA8-2D75-B10F-18EB-0A6AAAA2C4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1974" y="2939285"/>
            <a:ext cx="765204" cy="75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25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A9B9-6EDC-53D4-F03F-88473F00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24F3F-25B3-48A9-1AE5-B4DE8E99625B}"/>
              </a:ext>
            </a:extLst>
          </p:cNvPr>
          <p:cNvSpPr txBox="1"/>
          <p:nvPr/>
        </p:nvSpPr>
        <p:spPr>
          <a:xfrm>
            <a:off x="423862" y="287927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400" dirty="0">
                <a:solidFill>
                  <a:srgbClr val="FD5B0E"/>
                </a:solidFill>
                <a:latin typeface="Playfair Display"/>
              </a:rPr>
              <a:t>Skill Gap Analysis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3B85931-7A59-1E98-C03B-7300D2C159D0}"/>
              </a:ext>
            </a:extLst>
          </p:cNvPr>
          <p:cNvSpPr/>
          <p:nvPr/>
        </p:nvSpPr>
        <p:spPr>
          <a:xfrm>
            <a:off x="6095999" y="1301247"/>
            <a:ext cx="5416451" cy="4554121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2FC43-F405-DCCF-8023-05FA19CCB574}"/>
              </a:ext>
            </a:extLst>
          </p:cNvPr>
          <p:cNvSpPr txBox="1"/>
          <p:nvPr/>
        </p:nvSpPr>
        <p:spPr>
          <a:xfrm>
            <a:off x="679549" y="1586998"/>
            <a:ext cx="5283565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FD5B0E"/>
              </a:buClr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Uncover the skill gaps. Build a future-ready workforce.​</a:t>
            </a:r>
          </a:p>
          <a:p>
            <a:pPr marL="285750" indent="-285750" fontAlgn="base">
              <a:spcAft>
                <a:spcPts val="1200"/>
              </a:spcAft>
              <a:buClr>
                <a:srgbClr val="E74302"/>
              </a:buClr>
              <a:buFont typeface="Arial" panose="020B0604020202020204" pitchFamily="34" charset="0"/>
              <a:buChar char="•"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Identify gaps vs. business needs with visual insights aligned to internal benchmarks and market standards.</a:t>
            </a:r>
          </a:p>
          <a:p>
            <a:pPr marL="285750" indent="-285750" fontAlgn="base">
              <a:spcAft>
                <a:spcPts val="1200"/>
              </a:spcAft>
              <a:buClr>
                <a:srgbClr val="E74302"/>
              </a:buClr>
              <a:buFont typeface="Arial" panose="020B0604020202020204" pitchFamily="34" charset="0"/>
              <a:buChar char="•"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Build live skill profiles via AI inference, assessments, and LMS/LXP integrations.</a:t>
            </a:r>
          </a:p>
          <a:p>
            <a:pPr marL="285750" indent="-285750" fontAlgn="base">
              <a:spcAft>
                <a:spcPts val="1200"/>
              </a:spcAft>
              <a:buClr>
                <a:srgbClr val="E74302"/>
              </a:buClr>
              <a:buFont typeface="Arial" panose="020B0604020202020204" pitchFamily="34" charset="0"/>
              <a:buChar char="•"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Aggregate skills data to reveal strengths and gaps across teams for smarter reskilling, succession, and optimization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D3DA50-2399-892E-4444-FD24A39AE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539" y="1724460"/>
            <a:ext cx="5175370" cy="383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27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5F23-3177-6ECE-FF61-5CED223A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FC925-582B-2FBC-E94E-9DE8DF986B3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Why iMocha Created the Product (SI)?</a:t>
            </a:r>
          </a:p>
        </p:txBody>
      </p:sp>
      <p:pic>
        <p:nvPicPr>
          <p:cNvPr id="2050" name="Picture 2" descr="Organization - Free business icons">
            <a:extLst>
              <a:ext uri="{FF2B5EF4-FFF2-40B4-BE49-F238E27FC236}">
                <a16:creationId xmlns:a16="http://schemas.microsoft.com/office/drawing/2014/main" id="{31054F77-5FD4-2A84-3073-73FF7CF67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2195941"/>
            <a:ext cx="3708400" cy="370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433BDC-42EC-024B-340F-CA77213FA20D}"/>
              </a:ext>
            </a:extLst>
          </p:cNvPr>
          <p:cNvSpPr/>
          <p:nvPr/>
        </p:nvSpPr>
        <p:spPr>
          <a:xfrm>
            <a:off x="1607415" y="4173675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Bridge the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Skills Data Gap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1142CA-7F73-6C06-9E4F-D3ACDBAC6377}"/>
              </a:ext>
            </a:extLst>
          </p:cNvPr>
          <p:cNvSpPr/>
          <p:nvPr/>
        </p:nvSpPr>
        <p:spPr>
          <a:xfrm>
            <a:off x="1787381" y="3131122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Enable Skills-First Decision Making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AE43B0-40BC-9570-8BE1-21518283993A}"/>
              </a:ext>
            </a:extLst>
          </p:cNvPr>
          <p:cNvSpPr/>
          <p:nvPr/>
        </p:nvSpPr>
        <p:spPr>
          <a:xfrm>
            <a:off x="2379515" y="2195940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Integrate Seamlessly with Existing HR Tech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339810-E11F-084B-E1E6-72C1CA231C64}"/>
              </a:ext>
            </a:extLst>
          </p:cNvPr>
          <p:cNvSpPr/>
          <p:nvPr/>
        </p:nvSpPr>
        <p:spPr>
          <a:xfrm>
            <a:off x="4904509" y="1487709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Enrich Skills </a:t>
            </a:r>
            <a:b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</a:b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Ecosystems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74035F-8F61-0B46-B83A-0CF080454544}"/>
              </a:ext>
            </a:extLst>
          </p:cNvPr>
          <p:cNvSpPr/>
          <p:nvPr/>
        </p:nvSpPr>
        <p:spPr>
          <a:xfrm>
            <a:off x="8201748" y="4173675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Support Strategic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Talent Planning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88C4C3-1D7E-3247-82CE-15411F5AF0D9}"/>
              </a:ext>
            </a:extLst>
          </p:cNvPr>
          <p:cNvSpPr/>
          <p:nvPr/>
        </p:nvSpPr>
        <p:spPr>
          <a:xfrm>
            <a:off x="8021638" y="3131122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Drive Workforce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Agility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DB8977-673F-ACA5-949B-06178DE685F5}"/>
              </a:ext>
            </a:extLst>
          </p:cNvPr>
          <p:cNvSpPr/>
          <p:nvPr/>
        </p:nvSpPr>
        <p:spPr>
          <a:xfrm>
            <a:off x="7429504" y="2195940"/>
            <a:ext cx="2382981" cy="540000"/>
          </a:xfrm>
          <a:prstGeom prst="roundRect">
            <a:avLst>
              <a:gd name="adj" fmla="val 6802"/>
            </a:avLst>
          </a:prstGeom>
          <a:solidFill>
            <a:srgbClr val="F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Validate Skills Objectively</a:t>
            </a:r>
          </a:p>
        </p:txBody>
      </p:sp>
    </p:spTree>
    <p:extLst>
      <p:ext uri="{BB962C8B-B14F-4D97-AF65-F5344CB8AC3E}">
        <p14:creationId xmlns:p14="http://schemas.microsoft.com/office/powerpoint/2010/main" val="188330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BA06-19D4-26B0-C095-9F0665C3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white dots&#10;&#10;AI-generated content may be incorrect.">
            <a:extLst>
              <a:ext uri="{FF2B5EF4-FFF2-40B4-BE49-F238E27FC236}">
                <a16:creationId xmlns:a16="http://schemas.microsoft.com/office/drawing/2014/main" id="{0FAC47D0-9901-B0CA-1BD1-C080DA40B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7DFC6B-E002-9D24-AD4B-6FFD493DE1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1875" y="2464137"/>
            <a:ext cx="2508250" cy="735927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75A4D5D-A6E4-B9DE-F4EE-6CBD6EA207F0}"/>
              </a:ext>
            </a:extLst>
          </p:cNvPr>
          <p:cNvSpPr txBox="1">
            <a:spLocks/>
          </p:cNvSpPr>
          <p:nvPr/>
        </p:nvSpPr>
        <p:spPr>
          <a:xfrm>
            <a:off x="2271584" y="3398372"/>
            <a:ext cx="7648829" cy="7359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Skills Visibility. </a:t>
            </a:r>
            <a:r>
              <a:rPr kumimoji="0" lang="en-US" sz="4000" b="0" i="1" u="none" strike="noStrike" kern="120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layfair Display" pitchFamily="2" charset="77"/>
                <a:ea typeface="+mn-ea"/>
                <a:cs typeface="+mn-cs"/>
              </a:rPr>
              <a:t>Business Agility.</a:t>
            </a:r>
          </a:p>
        </p:txBody>
      </p:sp>
    </p:spTree>
    <p:extLst>
      <p:ext uri="{BB962C8B-B14F-4D97-AF65-F5344CB8AC3E}">
        <p14:creationId xmlns:p14="http://schemas.microsoft.com/office/powerpoint/2010/main" val="980681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525</Words>
  <Application>Microsoft Office PowerPoint</Application>
  <PresentationFormat>Widescreen</PresentationFormat>
  <Paragraphs>137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Playfair Display</vt:lpstr>
      <vt:lpstr>Poppins</vt:lpstr>
      <vt:lpstr>Poppins Medium</vt:lpstr>
      <vt:lpstr>Times New Roman</vt:lpstr>
      <vt:lpstr>Office Theme</vt:lpstr>
      <vt:lpstr>1_Office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Oza</dc:creator>
  <cp:lastModifiedBy>User</cp:lastModifiedBy>
  <cp:revision>4</cp:revision>
  <dcterms:created xsi:type="dcterms:W3CDTF">2026-05-15T05:15:09Z</dcterms:created>
  <dcterms:modified xsi:type="dcterms:W3CDTF">2026-05-19T15:29:47Z</dcterms:modified>
</cp:coreProperties>
</file>